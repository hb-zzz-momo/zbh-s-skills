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先问学员：你希望 AI 替你写多少代码，还是希望它帮你更快得到可验证结果？本课选择后者。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强调薄切片：不要让 AI 一次生成整个系统。每一轮都要有可以运行、观察和否定的结果。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演示三轮：第一轮锁定范围，第二轮生成薄切片，第三轮根据测试失败修复。不要把失败藏起来。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TCH_MASTER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528816"/>
            <a:ext cx="365760" cy="12801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50">
                <a:solidFill>
                  <a:srgbClr val="555D66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528816"/>
            <a:ext cx="365760" cy="12801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50">
                <a:solidFill>
                  <a:srgbClr val="555D66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5050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893808" y="201168"/>
            <a:ext cx="4023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750" dirty="0"/>
          </a:p>
        </p:txBody>
      </p:sp>
      <p:sp>
        <p:nvSpPr>
          <p:cNvPr id="3" name="Text 1"/>
          <p:cNvSpPr txBox="1"/>
          <p:nvPr/>
        </p:nvSpPr>
        <p:spPr>
          <a:xfrm>
            <a:off x="10332720" y="201168"/>
            <a:ext cx="1371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VIBE CODING PLAYBOOK</a:t>
            </a:r>
            <a:endParaRPr lang="en-US" sz="750" dirty="0"/>
          </a:p>
        </p:txBody>
      </p:sp>
      <p:sp>
        <p:nvSpPr>
          <p:cNvPr id="4" name="Text 2"/>
          <p:cNvSpPr txBox="1"/>
          <p:nvPr/>
        </p:nvSpPr>
        <p:spPr>
          <a:xfrm>
            <a:off x="347472" y="411480"/>
            <a:ext cx="66294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VIBE CODING</a:t>
            </a:r>
            <a:endParaRPr lang="en-US" sz="4200" dirty="0"/>
          </a:p>
          <a:p>
            <a:pPr algn="l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从一句想法到可验证产品</a:t>
            </a:r>
            <a:endParaRPr lang="en-US" sz="4200" dirty="0"/>
          </a:p>
        </p:txBody>
      </p:sp>
      <p:sp>
        <p:nvSpPr>
          <p:cNvPr id="5" name="Text 3"/>
          <p:cNvSpPr txBox="1"/>
          <p:nvPr/>
        </p:nvSpPr>
        <p:spPr>
          <a:xfrm>
            <a:off x="438912" y="2450592"/>
            <a:ext cx="3931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 AI 加速构建，</a:t>
            </a:r>
            <a:endParaRPr lang="en-US" sz="1700" dirty="0"/>
          </a:p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用证据守住质量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438912" y="3310128"/>
            <a:ext cx="2514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spc="150" kern="0" dirty="0">
                <a:solidFill>
                  <a:srgbClr val="B8BF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BEGINNER PLAYBOOK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7616952" y="1152144"/>
            <a:ext cx="4160520" cy="4370832"/>
          </a:xfrm>
          <a:prstGeom prst="rect">
            <a:avLst/>
          </a:prstGeom>
          <a:solidFill>
            <a:srgbClr val="050505"/>
          </a:solidFill>
          <a:ln w="12700">
            <a:solidFill>
              <a:srgbClr val="05050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781544" y="1298448"/>
            <a:ext cx="38313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b="1" spc="110" kern="0" dirty="0">
                <a:solidFill>
                  <a:srgbClr val="BF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CODING SESSION</a:t>
            </a:r>
            <a:endParaRPr lang="en-US" sz="800" dirty="0"/>
          </a:p>
        </p:txBody>
      </p:sp>
      <p:sp>
        <p:nvSpPr>
          <p:cNvPr id="9" name="Text 7"/>
          <p:cNvSpPr txBox="1"/>
          <p:nvPr/>
        </p:nvSpPr>
        <p:spPr>
          <a:xfrm>
            <a:off x="7781544" y="1627632"/>
            <a:ext cx="38313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goal: filter unfinished tasks</a:t>
            </a:r>
            <a:endParaRPr 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7781544" y="1901952"/>
            <a:ext cx="38313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9EA5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 src/TodoList.tsx</a:t>
            </a:r>
            <a:endParaRPr lang="en-US" sz="850" dirty="0"/>
          </a:p>
        </p:txBody>
      </p:sp>
      <p:sp>
        <p:nvSpPr>
          <p:cNvPr id="11" name="Text 9"/>
          <p:cNvSpPr txBox="1"/>
          <p:nvPr/>
        </p:nvSpPr>
        <p:spPr>
          <a:xfrm>
            <a:off x="7781544" y="2176272"/>
            <a:ext cx="38313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9EA5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edit query: status=open</a:t>
            </a:r>
            <a:endParaRPr lang="en-US" sz="850" dirty="0"/>
          </a:p>
        </p:txBody>
      </p:sp>
      <p:sp>
        <p:nvSpPr>
          <p:cNvPr id="12" name="Text 10"/>
          <p:cNvSpPr txBox="1"/>
          <p:nvPr/>
        </p:nvSpPr>
        <p:spPr>
          <a:xfrm>
            <a:off x="7781544" y="2450592"/>
            <a:ext cx="38313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 npm test -- TodoList</a:t>
            </a:r>
            <a:endParaRPr lang="en-US" sz="850" dirty="0"/>
          </a:p>
        </p:txBody>
      </p:sp>
      <p:sp>
        <p:nvSpPr>
          <p:cNvPr id="13" name="Text 11"/>
          <p:cNvSpPr txBox="1"/>
          <p:nvPr/>
        </p:nvSpPr>
        <p:spPr>
          <a:xfrm>
            <a:off x="7781544" y="2724912"/>
            <a:ext cx="38313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9EA5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 open / done / empty</a:t>
            </a:r>
            <a:endParaRPr lang="en-US" sz="850" dirty="0"/>
          </a:p>
        </p:txBody>
      </p:sp>
      <p:sp>
        <p:nvSpPr>
          <p:cNvPr id="14" name="Text 12"/>
          <p:cNvSpPr txBox="1"/>
          <p:nvPr/>
        </p:nvSpPr>
        <p:spPr>
          <a:xfrm>
            <a:off x="7781544" y="2999232"/>
            <a:ext cx="38313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9EA5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review diff: 18 lines</a:t>
            </a:r>
            <a:endParaRPr lang="en-US" sz="850" dirty="0"/>
          </a:p>
        </p:txBody>
      </p:sp>
      <p:sp>
        <p:nvSpPr>
          <p:cNvPr id="15" name="Text 13"/>
          <p:cNvSpPr txBox="1"/>
          <p:nvPr/>
        </p:nvSpPr>
        <p:spPr>
          <a:xfrm>
            <a:off x="7781544" y="3273552"/>
            <a:ext cx="38313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ready for human approval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7095744" y="530352"/>
            <a:ext cx="274320" cy="0"/>
          </a:xfrm>
          <a:prstGeom prst="line">
            <a:avLst/>
          </a:prstGeom>
          <a:noFill/>
          <a:ln w="13970">
            <a:solidFill>
              <a:srgbClr val="FFFF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370064" y="530352"/>
            <a:ext cx="0" cy="274320"/>
          </a:xfrm>
          <a:prstGeom prst="line">
            <a:avLst/>
          </a:prstGeom>
          <a:noFill/>
          <a:ln w="1397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347472" y="5916168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VIBE / CODE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7626096" y="5879592"/>
            <a:ext cx="41513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1100" dirty="0">
                <a:solidFill>
                  <a:srgbClr val="B8BFC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快速反馈，不放弃判断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47472" y="6528816"/>
            <a:ext cx="11475720" cy="0"/>
          </a:xfrm>
          <a:prstGeom prst="line">
            <a:avLst/>
          </a:prstGeom>
          <a:noFill/>
          <a:ln w="7620">
            <a:solidFill>
              <a:srgbClr val="363636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347472" y="6583680"/>
            <a:ext cx="80467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C8CDD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来源：SRC-GH-BEST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55C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893808" y="201168"/>
            <a:ext cx="4023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750" dirty="0"/>
          </a:p>
        </p:txBody>
      </p:sp>
      <p:sp>
        <p:nvSpPr>
          <p:cNvPr id="3" name="Text 1"/>
          <p:cNvSpPr txBox="1"/>
          <p:nvPr/>
        </p:nvSpPr>
        <p:spPr>
          <a:xfrm>
            <a:off x="10332720" y="201168"/>
            <a:ext cx="1371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METHOD</a:t>
            </a:r>
            <a:endParaRPr lang="en-US" sz="750" dirty="0"/>
          </a:p>
        </p:txBody>
      </p:sp>
      <p:sp>
        <p:nvSpPr>
          <p:cNvPr id="4" name="Text 2"/>
          <p:cNvSpPr txBox="1"/>
          <p:nvPr/>
        </p:nvSpPr>
        <p:spPr>
          <a:xfrm>
            <a:off x="347472" y="320040"/>
            <a:ext cx="612648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 VIBE CODING</a:t>
            </a:r>
            <a:endParaRPr lang="en-US" sz="3000" dirty="0"/>
          </a:p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FEEDBACK LOOP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6912864" y="1051560"/>
            <a:ext cx="42793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每次只推进一个可观察切片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438912" y="2103120"/>
            <a:ext cx="1901952" cy="1408176"/>
          </a:xfrm>
          <a:prstGeom prst="rect">
            <a:avLst/>
          </a:prstGeom>
          <a:solidFill>
            <a:srgbClr val="F5F3EF"/>
          </a:solidFill>
          <a:ln w="12700">
            <a:solidFill>
              <a:srgbClr val="F5F3E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03504" y="2258568"/>
            <a:ext cx="329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B55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603504" y="2578608"/>
            <a:ext cx="153619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90A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定义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603504" y="3044952"/>
            <a:ext cx="15361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555D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 + Done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377440" y="2798064"/>
            <a:ext cx="283464" cy="0"/>
          </a:xfrm>
          <a:prstGeom prst="line">
            <a:avLst/>
          </a:prstGeom>
          <a:noFill/>
          <a:ln w="13970">
            <a:solidFill>
              <a:srgbClr val="FFFFFF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2752344" y="2414016"/>
            <a:ext cx="1901952" cy="1408176"/>
          </a:xfrm>
          <a:prstGeom prst="rect">
            <a:avLst/>
          </a:prstGeom>
          <a:solidFill>
            <a:srgbClr val="F5F3EF"/>
          </a:solidFill>
          <a:ln w="12700">
            <a:solidFill>
              <a:srgbClr val="F5F3E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2916936" y="2569464"/>
            <a:ext cx="329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B55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2916936" y="2889504"/>
            <a:ext cx="153619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90A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给上下文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2916936" y="3355848"/>
            <a:ext cx="15361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555D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文件 + 约束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690872" y="3108960"/>
            <a:ext cx="283464" cy="0"/>
          </a:xfrm>
          <a:prstGeom prst="line">
            <a:avLst/>
          </a:prstGeom>
          <a:noFill/>
          <a:ln w="13970">
            <a:solidFill>
              <a:srgbClr val="FFFFFF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5065776" y="2103120"/>
            <a:ext cx="1901952" cy="1408176"/>
          </a:xfrm>
          <a:prstGeom prst="rect">
            <a:avLst/>
          </a:prstGeom>
          <a:solidFill>
            <a:srgbClr val="050505"/>
          </a:solidFill>
          <a:ln w="12700">
            <a:solidFill>
              <a:srgbClr val="050505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230368" y="2258568"/>
            <a:ext cx="329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BF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5230368" y="2578608"/>
            <a:ext cx="153619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生成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5230368" y="3044952"/>
            <a:ext cx="15361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AAB1B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一个薄切片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7004304" y="2798064"/>
            <a:ext cx="283464" cy="0"/>
          </a:xfrm>
          <a:prstGeom prst="line">
            <a:avLst/>
          </a:prstGeom>
          <a:noFill/>
          <a:ln w="13970">
            <a:solidFill>
              <a:srgbClr val="FFFFFF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7379208" y="2414016"/>
            <a:ext cx="1901952" cy="1408176"/>
          </a:xfrm>
          <a:prstGeom prst="rect">
            <a:avLst/>
          </a:prstGeom>
          <a:solidFill>
            <a:srgbClr val="F5F3EF"/>
          </a:solidFill>
          <a:ln w="12700">
            <a:solidFill>
              <a:srgbClr val="F5F3E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543800" y="2569464"/>
            <a:ext cx="329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B55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900" dirty="0"/>
          </a:p>
        </p:txBody>
      </p:sp>
      <p:sp>
        <p:nvSpPr>
          <p:cNvPr id="23" name="Text 21"/>
          <p:cNvSpPr txBox="1"/>
          <p:nvPr/>
        </p:nvSpPr>
        <p:spPr>
          <a:xfrm>
            <a:off x="7543800" y="2889504"/>
            <a:ext cx="153619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90A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验证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7543800" y="3355848"/>
            <a:ext cx="15361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555D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运行 + 测试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9317736" y="3108960"/>
            <a:ext cx="283464" cy="0"/>
          </a:xfrm>
          <a:prstGeom prst="line">
            <a:avLst/>
          </a:prstGeom>
          <a:noFill/>
          <a:ln w="13970">
            <a:solidFill>
              <a:srgbClr val="FFFFFF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9692640" y="2103120"/>
            <a:ext cx="1901952" cy="1408176"/>
          </a:xfrm>
          <a:prstGeom prst="rect">
            <a:avLst/>
          </a:prstGeom>
          <a:solidFill>
            <a:srgbClr val="F5F3EF"/>
          </a:solidFill>
          <a:ln w="12700">
            <a:solidFill>
              <a:srgbClr val="F5F3EF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9857232" y="2258568"/>
            <a:ext cx="329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B55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900" dirty="0"/>
          </a:p>
        </p:txBody>
      </p:sp>
      <p:sp>
        <p:nvSpPr>
          <p:cNvPr id="28" name="Text 26"/>
          <p:cNvSpPr txBox="1"/>
          <p:nvPr/>
        </p:nvSpPr>
        <p:spPr>
          <a:xfrm>
            <a:off x="9857232" y="2578608"/>
            <a:ext cx="153619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90A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修复</a:t>
            </a:r>
            <a:endParaRPr lang="en-US" sz="1600" dirty="0"/>
          </a:p>
        </p:txBody>
      </p:sp>
      <p:sp>
        <p:nvSpPr>
          <p:cNvPr id="29" name="Text 27"/>
          <p:cNvSpPr txBox="1"/>
          <p:nvPr/>
        </p:nvSpPr>
        <p:spPr>
          <a:xfrm>
            <a:off x="9857232" y="3044952"/>
            <a:ext cx="15361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555D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回源再复验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38912" y="4297680"/>
            <a:ext cx="3493008" cy="1444752"/>
          </a:xfrm>
          <a:prstGeom prst="rect">
            <a:avLst/>
          </a:prstGeom>
          <a:solidFill>
            <a:srgbClr val="050505"/>
          </a:solidFill>
          <a:ln w="12700">
            <a:solidFill>
              <a:srgbClr val="050505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603504" y="4443984"/>
            <a:ext cx="31638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b="1" spc="110" kern="0" dirty="0">
                <a:solidFill>
                  <a:srgbClr val="BF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DEFINE</a:t>
            </a:r>
            <a:endParaRPr lang="en-US" sz="800" dirty="0"/>
          </a:p>
        </p:txBody>
      </p:sp>
      <p:sp>
        <p:nvSpPr>
          <p:cNvPr id="32" name="Text 30"/>
          <p:cNvSpPr txBox="1"/>
          <p:nvPr/>
        </p:nvSpPr>
        <p:spPr>
          <a:xfrm>
            <a:off x="603504" y="4773168"/>
            <a:ext cx="31638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Goal / Context</a:t>
            </a:r>
            <a:endParaRPr lang="en-US" sz="850" dirty="0"/>
          </a:p>
        </p:txBody>
      </p:sp>
      <p:sp>
        <p:nvSpPr>
          <p:cNvPr id="33" name="Text 31"/>
          <p:cNvSpPr txBox="1"/>
          <p:nvPr/>
        </p:nvSpPr>
        <p:spPr>
          <a:xfrm>
            <a:off x="603504" y="5047488"/>
            <a:ext cx="31638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9EA5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Constraints / Done</a:t>
            </a:r>
            <a:endParaRPr lang="en-US" sz="850" dirty="0"/>
          </a:p>
        </p:txBody>
      </p:sp>
      <p:sp>
        <p:nvSpPr>
          <p:cNvPr id="34" name="Text 32"/>
          <p:cNvSpPr txBox="1"/>
          <p:nvPr/>
        </p:nvSpPr>
        <p:spPr>
          <a:xfrm>
            <a:off x="603504" y="5321808"/>
            <a:ext cx="31638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9EA5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one behavior only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4352544" y="4297680"/>
            <a:ext cx="3493008" cy="1444752"/>
          </a:xfrm>
          <a:prstGeom prst="rect">
            <a:avLst/>
          </a:prstGeom>
          <a:solidFill>
            <a:srgbClr val="F5F3EF"/>
          </a:solidFill>
          <a:ln w="8890">
            <a:solidFill>
              <a:srgbClr val="D8D5D0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4517136" y="4443984"/>
            <a:ext cx="31638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b="1" spc="110" kern="0" dirty="0">
                <a:solidFill>
                  <a:srgbClr val="073E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VERIFY</a:t>
            </a:r>
            <a:endParaRPr lang="en-US" sz="800" dirty="0"/>
          </a:p>
        </p:txBody>
      </p:sp>
      <p:sp>
        <p:nvSpPr>
          <p:cNvPr id="37" name="Text 35"/>
          <p:cNvSpPr txBox="1"/>
          <p:nvPr/>
        </p:nvSpPr>
        <p:spPr>
          <a:xfrm>
            <a:off x="4517136" y="4773168"/>
            <a:ext cx="31638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090A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npm test -- TodoList</a:t>
            </a:r>
            <a:endParaRPr lang="en-US" sz="850" dirty="0"/>
          </a:p>
        </p:txBody>
      </p:sp>
      <p:sp>
        <p:nvSpPr>
          <p:cNvPr id="38" name="Text 36"/>
          <p:cNvSpPr txBox="1"/>
          <p:nvPr/>
        </p:nvSpPr>
        <p:spPr>
          <a:xfrm>
            <a:off x="4517136" y="5047488"/>
            <a:ext cx="31638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555D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 open ✓ done ✓ empty</a:t>
            </a:r>
            <a:endParaRPr lang="en-US" sz="850" dirty="0"/>
          </a:p>
        </p:txBody>
      </p:sp>
      <p:sp>
        <p:nvSpPr>
          <p:cNvPr id="39" name="Text 37"/>
          <p:cNvSpPr txBox="1"/>
          <p:nvPr/>
        </p:nvSpPr>
        <p:spPr>
          <a:xfrm>
            <a:off x="4517136" y="5321808"/>
            <a:ext cx="31638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555D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capture evidence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8266176" y="4297680"/>
            <a:ext cx="3474720" cy="1444752"/>
          </a:xfrm>
          <a:prstGeom prst="rect">
            <a:avLst/>
          </a:prstGeom>
          <a:solidFill>
            <a:srgbClr val="050505"/>
          </a:solidFill>
          <a:ln w="12700">
            <a:solidFill>
              <a:srgbClr val="050505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8430768" y="4443984"/>
            <a:ext cx="31455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b="1" spc="110" kern="0" dirty="0">
                <a:solidFill>
                  <a:srgbClr val="BF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</a:t>
            </a:r>
            <a:endParaRPr lang="en-US" sz="800" dirty="0"/>
          </a:p>
        </p:txBody>
      </p:sp>
      <p:sp>
        <p:nvSpPr>
          <p:cNvPr id="42" name="Text 40"/>
          <p:cNvSpPr txBox="1"/>
          <p:nvPr/>
        </p:nvSpPr>
        <p:spPr>
          <a:xfrm>
            <a:off x="8430768" y="4773168"/>
            <a:ext cx="31455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failure → source file</a:t>
            </a:r>
            <a:endParaRPr lang="en-US" sz="850" dirty="0"/>
          </a:p>
        </p:txBody>
      </p:sp>
      <p:sp>
        <p:nvSpPr>
          <p:cNvPr id="43" name="Text 41"/>
          <p:cNvSpPr txBox="1"/>
          <p:nvPr/>
        </p:nvSpPr>
        <p:spPr>
          <a:xfrm>
            <a:off x="8430768" y="5047488"/>
            <a:ext cx="31455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9EA5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small diff → rerun</a:t>
            </a:r>
            <a:endParaRPr lang="en-US" sz="850" dirty="0"/>
          </a:p>
        </p:txBody>
      </p:sp>
      <p:sp>
        <p:nvSpPr>
          <p:cNvPr id="44" name="Text 42"/>
          <p:cNvSpPr txBox="1"/>
          <p:nvPr/>
        </p:nvSpPr>
        <p:spPr>
          <a:xfrm>
            <a:off x="8430768" y="5321808"/>
            <a:ext cx="31455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9EA5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approve only with proof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347472" y="6528816"/>
            <a:ext cx="11475720" cy="0"/>
          </a:xfrm>
          <a:prstGeom prst="line">
            <a:avLst/>
          </a:prstGeom>
          <a:noFill/>
          <a:ln w="7620">
            <a:solidFill>
              <a:srgbClr val="363636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347472" y="6583680"/>
            <a:ext cx="80467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C8CDD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来源：SRC-GH-BEST · SRC-ANTHROPIC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55C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893808" y="201168"/>
            <a:ext cx="4023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750" dirty="0"/>
          </a:p>
        </p:txBody>
      </p:sp>
      <p:sp>
        <p:nvSpPr>
          <p:cNvPr id="3" name="Text 1"/>
          <p:cNvSpPr txBox="1"/>
          <p:nvPr/>
        </p:nvSpPr>
        <p:spPr>
          <a:xfrm>
            <a:off x="10332720" y="201168"/>
            <a:ext cx="1371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</a:t>
            </a:r>
            <a:endParaRPr lang="en-US" sz="750" dirty="0"/>
          </a:p>
        </p:txBody>
      </p:sp>
      <p:sp>
        <p:nvSpPr>
          <p:cNvPr id="4" name="Text 2"/>
          <p:cNvSpPr txBox="1"/>
          <p:nvPr/>
        </p:nvSpPr>
        <p:spPr>
          <a:xfrm>
            <a:off x="347472" y="320040"/>
            <a:ext cx="649224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FROM VAGUE IDEA</a:t>
            </a:r>
            <a:endParaRPr lang="en-US" sz="3000" dirty="0"/>
          </a:p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 WORKING SLICE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7662672" y="1088136"/>
            <a:ext cx="3977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逐轮收窄，不赌一句万能提示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438912" y="1920240"/>
            <a:ext cx="3520440" cy="2999232"/>
          </a:xfrm>
          <a:prstGeom prst="rect">
            <a:avLst/>
          </a:prstGeom>
          <a:solidFill>
            <a:srgbClr val="050505"/>
          </a:solidFill>
          <a:ln w="12700">
            <a:solidFill>
              <a:srgbClr val="05050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03504" y="2066544"/>
            <a:ext cx="31912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b="1" spc="110" kern="0" dirty="0">
                <a:solidFill>
                  <a:srgbClr val="BF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/ PROMPT</a:t>
            </a:r>
            <a:endParaRPr lang="en-US" sz="800" dirty="0"/>
          </a:p>
        </p:txBody>
      </p:sp>
      <p:sp>
        <p:nvSpPr>
          <p:cNvPr id="8" name="Text 6"/>
          <p:cNvSpPr txBox="1"/>
          <p:nvPr/>
        </p:nvSpPr>
        <p:spPr>
          <a:xfrm>
            <a:off x="603504" y="2395728"/>
            <a:ext cx="31912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Goal: unfinished filter</a:t>
            </a:r>
            <a:endParaRPr lang="en-US" sz="850" dirty="0"/>
          </a:p>
        </p:txBody>
      </p:sp>
      <p:sp>
        <p:nvSpPr>
          <p:cNvPr id="9" name="Text 7"/>
          <p:cNvSpPr txBox="1"/>
          <p:nvPr/>
        </p:nvSpPr>
        <p:spPr>
          <a:xfrm>
            <a:off x="603504" y="2670048"/>
            <a:ext cx="31912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9EA5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Context: TodoList.tsx</a:t>
            </a:r>
            <a:endParaRPr 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603504" y="2944368"/>
            <a:ext cx="31912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9EA5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Constraint: no DB change</a:t>
            </a:r>
            <a:endParaRPr lang="en-US" sz="850" dirty="0"/>
          </a:p>
        </p:txBody>
      </p:sp>
      <p:sp>
        <p:nvSpPr>
          <p:cNvPr id="11" name="Text 9"/>
          <p:cNvSpPr txBox="1"/>
          <p:nvPr/>
        </p:nvSpPr>
        <p:spPr>
          <a:xfrm>
            <a:off x="603504" y="3218688"/>
            <a:ext cx="31912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Done: tests + screenshot</a:t>
            </a:r>
            <a:endParaRPr lang="en-US" sz="850" dirty="0"/>
          </a:p>
        </p:txBody>
      </p:sp>
      <p:sp>
        <p:nvSpPr>
          <p:cNvPr id="12" name="Text 10"/>
          <p:cNvSpPr txBox="1"/>
          <p:nvPr/>
        </p:nvSpPr>
        <p:spPr>
          <a:xfrm>
            <a:off x="603504" y="3493008"/>
            <a:ext cx="31912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9EA5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scope locked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4334256" y="2267712"/>
            <a:ext cx="3520440" cy="2834640"/>
          </a:xfrm>
          <a:prstGeom prst="rect">
            <a:avLst/>
          </a:prstGeom>
          <a:solidFill>
            <a:srgbClr val="F5F3EF"/>
          </a:solidFill>
          <a:ln w="8890">
            <a:solidFill>
              <a:srgbClr val="D8D5D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498848" y="2414016"/>
            <a:ext cx="31912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b="1" spc="110" kern="0" dirty="0">
                <a:solidFill>
                  <a:srgbClr val="073E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/ BUILD</a:t>
            </a:r>
            <a:endParaRPr lang="en-US" sz="800" dirty="0"/>
          </a:p>
        </p:txBody>
      </p:sp>
      <p:sp>
        <p:nvSpPr>
          <p:cNvPr id="15" name="Text 13"/>
          <p:cNvSpPr txBox="1"/>
          <p:nvPr/>
        </p:nvSpPr>
        <p:spPr>
          <a:xfrm>
            <a:off x="4498848" y="2743200"/>
            <a:ext cx="31912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090A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edit TodoList.tsx</a:t>
            </a:r>
            <a:endParaRPr lang="en-US" sz="850" dirty="0"/>
          </a:p>
        </p:txBody>
      </p:sp>
      <p:sp>
        <p:nvSpPr>
          <p:cNvPr id="16" name="Text 14"/>
          <p:cNvSpPr txBox="1"/>
          <p:nvPr/>
        </p:nvSpPr>
        <p:spPr>
          <a:xfrm>
            <a:off x="4498848" y="3017520"/>
            <a:ext cx="31912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555D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status query parameter</a:t>
            </a:r>
            <a:endParaRPr lang="en-US" sz="850" dirty="0"/>
          </a:p>
        </p:txBody>
      </p:sp>
      <p:sp>
        <p:nvSpPr>
          <p:cNvPr id="17" name="Text 15"/>
          <p:cNvSpPr txBox="1"/>
          <p:nvPr/>
        </p:nvSpPr>
        <p:spPr>
          <a:xfrm>
            <a:off x="4498848" y="3291840"/>
            <a:ext cx="31912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555D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empty-state branch</a:t>
            </a:r>
            <a:endParaRPr lang="en-US" sz="850" dirty="0"/>
          </a:p>
        </p:txBody>
      </p:sp>
      <p:sp>
        <p:nvSpPr>
          <p:cNvPr id="18" name="Text 16"/>
          <p:cNvSpPr txBox="1"/>
          <p:nvPr/>
        </p:nvSpPr>
        <p:spPr>
          <a:xfrm>
            <a:off x="4498848" y="3566160"/>
            <a:ext cx="31912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090A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 lines changed</a:t>
            </a:r>
            <a:endParaRPr lang="en-US" sz="850" dirty="0"/>
          </a:p>
        </p:txBody>
      </p:sp>
      <p:sp>
        <p:nvSpPr>
          <p:cNvPr id="19" name="Text 17"/>
          <p:cNvSpPr txBox="1"/>
          <p:nvPr/>
        </p:nvSpPr>
        <p:spPr>
          <a:xfrm>
            <a:off x="4498848" y="3840480"/>
            <a:ext cx="31912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555D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 local preview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8229600" y="2615184"/>
            <a:ext cx="3511296" cy="3127248"/>
          </a:xfrm>
          <a:prstGeom prst="rect">
            <a:avLst/>
          </a:prstGeom>
          <a:solidFill>
            <a:srgbClr val="050505"/>
          </a:solidFill>
          <a:ln w="12700">
            <a:solidFill>
              <a:srgbClr val="050505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394192" y="2761488"/>
            <a:ext cx="31821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b="1" spc="110" kern="0" dirty="0">
                <a:solidFill>
                  <a:srgbClr val="BF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/ VERIFY</a:t>
            </a:r>
            <a:endParaRPr lang="en-US" sz="800" dirty="0"/>
          </a:p>
        </p:txBody>
      </p:sp>
      <p:sp>
        <p:nvSpPr>
          <p:cNvPr id="22" name="Text 20"/>
          <p:cNvSpPr txBox="1"/>
          <p:nvPr/>
        </p:nvSpPr>
        <p:spPr>
          <a:xfrm>
            <a:off x="8394192" y="3090672"/>
            <a:ext cx="31821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 open tasks</a:t>
            </a:r>
            <a:endParaRPr lang="en-US" sz="850" dirty="0"/>
          </a:p>
        </p:txBody>
      </p:sp>
      <p:sp>
        <p:nvSpPr>
          <p:cNvPr id="23" name="Text 21"/>
          <p:cNvSpPr txBox="1"/>
          <p:nvPr/>
        </p:nvSpPr>
        <p:spPr>
          <a:xfrm>
            <a:off x="8394192" y="3364992"/>
            <a:ext cx="31821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9EA5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 completed tasks</a:t>
            </a:r>
            <a:endParaRPr lang="en-US" sz="850" dirty="0"/>
          </a:p>
        </p:txBody>
      </p:sp>
      <p:sp>
        <p:nvSpPr>
          <p:cNvPr id="24" name="Text 22"/>
          <p:cNvSpPr txBox="1"/>
          <p:nvPr/>
        </p:nvSpPr>
        <p:spPr>
          <a:xfrm>
            <a:off x="8394192" y="3639312"/>
            <a:ext cx="31821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9EA5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✕ empty state spacing</a:t>
            </a:r>
            <a:endParaRPr lang="en-US" sz="850" dirty="0"/>
          </a:p>
        </p:txBody>
      </p:sp>
      <p:sp>
        <p:nvSpPr>
          <p:cNvPr id="25" name="Text 23"/>
          <p:cNvSpPr txBox="1"/>
          <p:nvPr/>
        </p:nvSpPr>
        <p:spPr>
          <a:xfrm>
            <a:off x="8394192" y="3913632"/>
            <a:ext cx="31821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fix → rerun</a:t>
            </a:r>
            <a:endParaRPr lang="en-US" sz="850" dirty="0"/>
          </a:p>
        </p:txBody>
      </p:sp>
      <p:sp>
        <p:nvSpPr>
          <p:cNvPr id="26" name="Text 24"/>
          <p:cNvSpPr txBox="1"/>
          <p:nvPr/>
        </p:nvSpPr>
        <p:spPr>
          <a:xfrm>
            <a:off x="8394192" y="4187952"/>
            <a:ext cx="31821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9EA5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 3/3 + screenshot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3995928" y="3584448"/>
            <a:ext cx="246888" cy="0"/>
          </a:xfrm>
          <a:prstGeom prst="line">
            <a:avLst/>
          </a:prstGeom>
          <a:noFill/>
          <a:ln w="13970">
            <a:solidFill>
              <a:srgbClr val="FFFFFF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7891272" y="3931920"/>
            <a:ext cx="246888" cy="0"/>
          </a:xfrm>
          <a:prstGeom prst="line">
            <a:avLst/>
          </a:prstGeom>
          <a:noFill/>
          <a:ln w="13970">
            <a:solidFill>
              <a:srgbClr val="FFFFFF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347472" y="6528816"/>
            <a:ext cx="11475720" cy="0"/>
          </a:xfrm>
          <a:prstGeom prst="line">
            <a:avLst/>
          </a:prstGeom>
          <a:noFill/>
          <a:ln w="7620">
            <a:solidFill>
              <a:srgbClr val="363636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347472" y="6583680"/>
            <a:ext cx="80467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C8CDD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来源：SRC-GH-PROMPT · SRC-LOCAL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Vibe Coding：从一句想法到可验证产品</dc:title>
  <dc:subject>Vibe Coding 教学</dc:subject>
  <dc:creator>Codex</dc:creator>
  <cp:lastModifiedBy>Codex</cp:lastModifiedBy>
  <cp:revision>1</cp:revision>
  <dcterms:created xsi:type="dcterms:W3CDTF">2026-07-11T12:41:10Z</dcterms:created>
  <dcterms:modified xsi:type="dcterms:W3CDTF">2026-07-11T12:41:10Z</dcterms:modified>
</cp:coreProperties>
</file>