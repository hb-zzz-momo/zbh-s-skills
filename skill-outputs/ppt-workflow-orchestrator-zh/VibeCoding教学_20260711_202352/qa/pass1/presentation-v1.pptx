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先问学员：你希望 AI 替你写多少代码，还是希望它帮你更快得到可验证结果？本课选择后者。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告诉学员这不是工具功能介绍，而是一套可以迁移到不同 AI 编程工具的工作方法。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把它定义为一种交互节奏：自然语言让启动更快，反馈循环让方向不断收敛，人类仍负责判断。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快速反馈适合可观察、可回滚的任务。高风险领域不是不能用 AI，而是必须增加设计审查、安全验证和权限边界。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三个问题分别对应目标、上下文、验证。后面的工作流就是逐一补上这三个缺口。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强调薄切片：不要让 AI 一次生成整个系统。每一轮都要有可以运行、观察和否定的结果。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这四项是课程归纳框架。示例：为现有待办页增加筛选；复用当前 API；不改数据库；用三条测试和截图证明完成。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演示三轮：第一轮锁定范围，第二轮生成薄切片，第三轮根据测试失败修复。不要把失败藏起来。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当规则会重复出现时，不要每次重新描述，把它写进项目文件、测试和示例。这就是可复用上下文。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把模型输出当成未经验证的候选实现。发布决定必须由人负责，尤其是输入、权限、秘密和外部依赖。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让学员两人一组：一人扮演产品负责人，写 Goal/Context/Constraints/Done；另一人操作 AI 并记录每轮证据。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最后复述：Vibe Coding 的价值来自更短反馈；它的安全来自人类始终保留目标、边界、验证和发布责任。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TCH_MASTER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28816"/>
            <a:ext cx="36576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55D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28816"/>
            <a:ext cx="36576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55D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PLAYBOOK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411480"/>
            <a:ext cx="6629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VIBE CODING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从一句想法到可验证产品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438912" y="245059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AI 加速构建，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用证据守住质量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38912" y="331012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B8BF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 PLAYBOOK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616952" y="1152144"/>
            <a:ext cx="4160520" cy="437083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81544" y="1298448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 SESSION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7781544" y="162763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goal: filter unfinished tasks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7781544" y="190195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src/TodoList.tsx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781544" y="217627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 query: status=open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7781544" y="245059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test -- TodoList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7781544" y="272491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open / done / empty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7781544" y="299923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diff: 18 lines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7781544" y="327355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 for human approval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095744" y="530352"/>
            <a:ext cx="274320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70064" y="530352"/>
            <a:ext cx="0" cy="27432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7472" y="5916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/ CODE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626096" y="5879592"/>
            <a:ext cx="4151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B8BF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快速反馈，不放弃判断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36363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8C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来源：SRC-GH-BEST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5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MAP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347472"/>
            <a:ext cx="4937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TABLE OF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224528" y="276148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00016" y="2862072"/>
            <a:ext cx="256032" cy="0"/>
          </a:xfrm>
          <a:prstGeom prst="line">
            <a:avLst/>
          </a:prstGeom>
          <a:noFill/>
          <a:ln w="10160">
            <a:solidFill>
              <a:srgbClr val="A8C7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84064" y="27249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重新定义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224528" y="337413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0016" y="3474720"/>
            <a:ext cx="256032" cy="0"/>
          </a:xfrm>
          <a:prstGeom prst="line">
            <a:avLst/>
          </a:prstGeom>
          <a:noFill/>
          <a:ln w="10160">
            <a:solidFill>
              <a:srgbClr val="A8C7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84064" y="33375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三个常见误区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224528" y="398678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0016" y="4087368"/>
            <a:ext cx="256032" cy="0"/>
          </a:xfrm>
          <a:prstGeom prst="line">
            <a:avLst/>
          </a:prstGeom>
          <a:noFill/>
          <a:ln w="10160">
            <a:solidFill>
              <a:srgbClr val="A8C7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84064" y="39502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小步闭环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562088" y="276148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037576" y="2862072"/>
            <a:ext cx="256032" cy="0"/>
          </a:xfrm>
          <a:prstGeom prst="line">
            <a:avLst/>
          </a:prstGeom>
          <a:noFill/>
          <a:ln w="10160">
            <a:solidFill>
              <a:srgbClr val="A8C7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21624" y="27249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提示与上下文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562088" y="337413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037576" y="3474720"/>
            <a:ext cx="256032" cy="0"/>
          </a:xfrm>
          <a:prstGeom prst="line">
            <a:avLst/>
          </a:prstGeom>
          <a:noFill/>
          <a:ln w="10160">
            <a:solidFill>
              <a:srgbClr val="A8C7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21624" y="33375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质量与安全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562088" y="398678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037576" y="4087368"/>
            <a:ext cx="256032" cy="0"/>
          </a:xfrm>
          <a:prstGeom prst="line">
            <a:avLst/>
          </a:prstGeom>
          <a:noFill/>
          <a:ln w="10160">
            <a:solidFill>
              <a:srgbClr val="A8C7F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21624" y="39502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十分钟练习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38912" y="431596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从定义到发布门禁，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建立可迁移的协作方法。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93192" y="5797296"/>
            <a:ext cx="256032" cy="-256032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3192" y="5541264"/>
            <a:ext cx="256032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36363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8C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来源：SRC-LOCAL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9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09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320040"/>
            <a:ext cx="6629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MAKES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VIBE CODING DIFFERENT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462272" y="1335024"/>
            <a:ext cx="2907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自然语言只是入口，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反馈闭环才是差异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462272" y="188366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516368" y="138988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516368" y="168249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自然语言起步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516368" y="205740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先表达意图，再进入实现细节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138988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961120" y="168249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高频反馈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961120" y="205740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生成、运行、观察、修正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405872" y="138988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405872" y="168249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人类负责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0405872" y="205740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目标、边界、验证、发布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38912" y="2971800"/>
            <a:ext cx="3639312" cy="22860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3504" y="3118104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3447288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goal: unfinished filter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3721608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context: existing TodoList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03504" y="3995928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constraint: no DB change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603504" y="4270248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done: tests + screenshot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297680" y="2971800"/>
            <a:ext cx="3639312" cy="2286000"/>
          </a:xfrm>
          <a:prstGeom prst="rect">
            <a:avLst/>
          </a:prstGeom>
          <a:solidFill>
            <a:srgbClr val="F5F3EF"/>
          </a:solidFill>
          <a:ln w="8890">
            <a:solidFill>
              <a:srgbClr val="D8D5D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62272" y="3118104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073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4462272" y="3447288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90A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→ observe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4462272" y="3721608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failed: empty state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4462272" y="3995928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component branch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4462272" y="4270248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90A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rerun → 3 tests pass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156448" y="2971800"/>
            <a:ext cx="3602736" cy="22860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321040" y="3118104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JUDGMENT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8321040" y="344728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diff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8321040" y="372160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permissions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399592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 acceptance criteria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42702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 approves release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D8D5D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来源：SRC-GH-BEST · SRC-GH-PROMPT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5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32004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WHERE VIBE CODING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CREATES VALUE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2395728"/>
            <a:ext cx="29260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3767328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速度优势只在反馈可观察、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修改可回滚时成立。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681728" y="2103120"/>
            <a:ext cx="3054096" cy="3127248"/>
          </a:xfrm>
          <a:prstGeom prst="rect">
            <a:avLst/>
          </a:prstGeom>
          <a:solidFill>
            <a:srgbClr val="F5F3EF"/>
          </a:solidFill>
          <a:ln w="12700">
            <a:solidFill>
              <a:srgbClr val="F5F3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56048" y="239572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 / FIT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956048" y="29718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413248" y="2898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原型与交互验证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956048" y="35204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413248" y="3447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内部工具与重复脚本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956048" y="4069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5413248" y="39959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低风险、可撤销界面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73568" y="2103120"/>
            <a:ext cx="3730752" cy="3127248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66176" y="2395728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慎用 / CAUTION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66176" y="29718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F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8723376" y="289864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认证、支付与权限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266176" y="35204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F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8723376" y="344728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隐私、核心数据与秘密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266176" y="4069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F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8723376" y="399592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不可逆操作与关键基础设施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97680" y="3675888"/>
            <a:ext cx="256032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36363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8C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来源：SRC-GH-BEST · SRC-OWASP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9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09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MODES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320040"/>
            <a:ext cx="6766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 WAYS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VIBE CODING FAILS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75488" y="2084832"/>
            <a:ext cx="1170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21762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愿望式提示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523744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只说做什么，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不说完成标准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30723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005072" y="2770632"/>
            <a:ext cx="1170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5312664" y="28620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上下文断裂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312664" y="3209544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模型不知道项目约定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和真实接口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312664" y="37581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699248" y="3456432"/>
            <a:ext cx="1170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9006840" y="35478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跳过验证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006840" y="3895344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能运行，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就当成可以发布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006840" y="44439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" y="5760720"/>
            <a:ext cx="219456" cy="0"/>
          </a:xfrm>
          <a:prstGeom prst="line">
            <a:avLst/>
          </a:prstGeom>
          <a:noFill/>
          <a:ln w="25400">
            <a:solidFill>
              <a:srgbClr val="0B55C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5488" y="591616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多数失败不是模型不会写，而是目标、上下文、验证缺了一环。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D8D5D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来源：SRC-GH-BEST · SRC-OWASP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5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320040"/>
            <a:ext cx="6126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VIBE CODING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FEEDBACK LOOP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912864" y="1051560"/>
            <a:ext cx="4279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每次只推进一个可观察切片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438912" y="2103120"/>
            <a:ext cx="1901952" cy="1408176"/>
          </a:xfrm>
          <a:prstGeom prst="rect">
            <a:avLst/>
          </a:prstGeom>
          <a:solidFill>
            <a:srgbClr val="F5F3EF"/>
          </a:solidFill>
          <a:ln w="12700">
            <a:solidFill>
              <a:srgbClr val="F5F3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" y="225856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03504" y="2578608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3504" y="3044952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+ Done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77440" y="2798064"/>
            <a:ext cx="283464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52344" y="2414016"/>
            <a:ext cx="1901952" cy="1408176"/>
          </a:xfrm>
          <a:prstGeom prst="rect">
            <a:avLst/>
          </a:prstGeom>
          <a:solidFill>
            <a:srgbClr val="F5F3EF"/>
          </a:solidFill>
          <a:ln w="12700">
            <a:solidFill>
              <a:srgbClr val="F5F3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16936" y="256946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916936" y="2889504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给上下文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916936" y="3355848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 + 约束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90872" y="3108960"/>
            <a:ext cx="283464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65776" y="2103120"/>
            <a:ext cx="1901952" cy="1408176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30368" y="225856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230368" y="2578608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230368" y="3044952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AB1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一个薄切片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004304" y="2798064"/>
            <a:ext cx="283464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79208" y="2414016"/>
            <a:ext cx="1901952" cy="1408176"/>
          </a:xfrm>
          <a:prstGeom prst="rect">
            <a:avLst/>
          </a:prstGeom>
          <a:solidFill>
            <a:srgbClr val="F5F3EF"/>
          </a:solidFill>
          <a:ln w="12700">
            <a:solidFill>
              <a:srgbClr val="F5F3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43800" y="256946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543800" y="2889504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543800" y="3355848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 + 测试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317736" y="3108960"/>
            <a:ext cx="283464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692640" y="2103120"/>
            <a:ext cx="1901952" cy="1408176"/>
          </a:xfrm>
          <a:prstGeom prst="rect">
            <a:avLst/>
          </a:prstGeom>
          <a:solidFill>
            <a:srgbClr val="F5F3EF"/>
          </a:solidFill>
          <a:ln w="12700">
            <a:solidFill>
              <a:srgbClr val="F5F3E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857232" y="225856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9857232" y="2578608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857232" y="3044952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回源再复验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8912" y="4297680"/>
            <a:ext cx="3493008" cy="14447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03504" y="4443984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603504" y="4773168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 / Context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603504" y="5047488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Constraints / Done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603504" y="5321808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behavior only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352544" y="4297680"/>
            <a:ext cx="3493008" cy="1444752"/>
          </a:xfrm>
          <a:prstGeom prst="rect">
            <a:avLst/>
          </a:prstGeom>
          <a:solidFill>
            <a:srgbClr val="F5F3EF"/>
          </a:solidFill>
          <a:ln w="8890">
            <a:solidFill>
              <a:srgbClr val="D8D5D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17136" y="4443984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073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4517136" y="4773168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90A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test -- TodoList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4517136" y="5047488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open ✓ done ✓ empty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4517136" y="5321808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 evidence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266176" y="4297680"/>
            <a:ext cx="3474720" cy="14447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430768" y="4443984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8430768" y="4773168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failure → source file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8430768" y="5047488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small diff → rerun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8430768" y="5321808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 only with proof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36363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8C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来源：SRC-GH-BEST · SRC-ANTHROPIC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9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09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320040"/>
            <a:ext cx="6126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LIKE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PRODUCT BRIEF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321808" y="1307592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好提示 = 一个可执行的产品简报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3055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14400" y="2212848"/>
            <a:ext cx="393192" cy="0"/>
          </a:xfrm>
          <a:prstGeom prst="line">
            <a:avLst/>
          </a:prstGeom>
          <a:noFill/>
          <a:ln w="10160">
            <a:solidFill>
              <a:srgbClr val="D8D5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44752" y="20574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962656" y="2048256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用户最终能做什么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9626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4400" y="3044952"/>
            <a:ext cx="393192" cy="0"/>
          </a:xfrm>
          <a:prstGeom prst="line">
            <a:avLst/>
          </a:prstGeom>
          <a:noFill/>
          <a:ln w="10160">
            <a:solidFill>
              <a:srgbClr val="D8D5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44752" y="288950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962656" y="288036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现有文件、接口、约定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79476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14400" y="3877056"/>
            <a:ext cx="393192" cy="0"/>
          </a:xfrm>
          <a:prstGeom prst="line">
            <a:avLst/>
          </a:prstGeom>
          <a:noFill/>
          <a:ln w="10160">
            <a:solidFill>
              <a:srgbClr val="D8D5D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444752" y="372160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962656" y="3712464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不能改什么、技术边界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62686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14400" y="4709160"/>
            <a:ext cx="393192" cy="0"/>
          </a:xfrm>
          <a:prstGeom prst="line">
            <a:avLst/>
          </a:prstGeom>
          <a:noFill/>
          <a:ln w="10160">
            <a:solidFill>
              <a:srgbClr val="D8D5D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444752" y="455371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962656" y="454456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如何证明完成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50992" y="1993392"/>
            <a:ext cx="6053328" cy="3401568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25312" y="224942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CONTRACT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5925312" y="27614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Goal: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2761488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5C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为待办页增加“未完成”筛选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925312" y="33375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Context: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3337560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5C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复用现有 TodoList 与查询 API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925312" y="39136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Constraints: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040880" y="3913632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5C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不改数据库，不新增依赖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925312" y="448970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Done: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040880" y="4489704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F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条测试通过 + 运行截图 + 小 Diff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 rot="-120000">
            <a:off x="9857232" y="4754880"/>
            <a:ext cx="1261872" cy="438912"/>
          </a:xfrm>
          <a:prstGeom prst="rect">
            <a:avLst/>
          </a:prstGeom>
          <a:noFill/>
          <a:ln w="13970"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D8D5D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来源：SRC-GH-PROMPT · SRC-ANTHROPIC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5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320040"/>
            <a:ext cx="6492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FROM VAGUE IDEA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WORKING SLICE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662672" y="108813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逐轮收窄，不赌一句万能提示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8912" y="1920240"/>
            <a:ext cx="3520440" cy="299923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" y="2066544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PROMPT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603504" y="2395728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Goal: unfinished filter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03504" y="2670048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Context: TodoList.tsx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03504" y="2944368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Constraint: no DB change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03504" y="3218688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Done: tests + screenshot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603504" y="3493008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 locked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34256" y="2267712"/>
            <a:ext cx="3520440" cy="2834640"/>
          </a:xfrm>
          <a:prstGeom prst="rect">
            <a:avLst/>
          </a:prstGeom>
          <a:solidFill>
            <a:srgbClr val="F5F3EF"/>
          </a:solidFill>
          <a:ln w="8890">
            <a:solidFill>
              <a:srgbClr val="D8D5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98848" y="2414016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073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BUILD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4498848" y="2743200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90A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 TodoList.tsx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498848" y="3017520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status query parameter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498848" y="3291840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empty-state branch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498848" y="3566160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90A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lines changed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4498848" y="3840480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local preview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229600" y="2615184"/>
            <a:ext cx="3511296" cy="3127248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94192" y="2761488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VERIFY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8394192" y="3090672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open tasks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8394192" y="3364992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completed tasks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8394192" y="3639312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✕ empty state spacing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8394192" y="3913632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→ rerun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8394192" y="4187952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3/3 + screenshot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995928" y="3584448"/>
            <a:ext cx="246888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891272" y="3931920"/>
            <a:ext cx="246888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36363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8C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来源：SRC-GH-PROMPT · SRC-LOCAL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9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09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320040"/>
            <a:ext cx="5943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 IS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YOUR REAL LEVERAGE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532120" y="1051560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项目文件比更长的提示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更有复用价值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38912" y="2788920"/>
            <a:ext cx="2523744" cy="199339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" y="293522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603504" y="32644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03504" y="35387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03504" y="38130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38912" y="494690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怎么运行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73552" y="3008376"/>
            <a:ext cx="2523744" cy="1993392"/>
          </a:xfrm>
          <a:prstGeom prst="rect">
            <a:avLst/>
          </a:prstGeom>
          <a:solidFill>
            <a:srgbClr val="F5F3EF"/>
          </a:solidFill>
          <a:ln w="8890">
            <a:solidFill>
              <a:srgbClr val="D8D5D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38144" y="31546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073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AGENTS.md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3438144" y="34838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90A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3438144" y="37581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3438144" y="403250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3273552" y="516636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怎么协作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08192" y="2788920"/>
            <a:ext cx="2523744" cy="199339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72784" y="293522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6272784" y="32644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happy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6272784" y="35387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6272784" y="38130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failure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108192" y="494690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什么叫正确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942832" y="3008376"/>
            <a:ext cx="2523744" cy="1993392"/>
          </a:xfrm>
          <a:prstGeom prst="rect">
            <a:avLst/>
          </a:prstGeom>
          <a:solidFill>
            <a:srgbClr val="F5F3EF"/>
          </a:solidFill>
          <a:ln w="8890">
            <a:solidFill>
              <a:srgbClr val="D8D5D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07424" y="31546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073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9107424" y="34838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90A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9107424" y="37581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naming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9107424" y="403250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8942832" y="516636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项目真实风格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38912" y="204825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77824" y="199339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把重复规则写进仓库，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让每一轮对话都从同一事实出发。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D8D5D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来源：SRC-GH-BEST · SRC-LOCAL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9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09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320040"/>
            <a:ext cx="6309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 GATES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 YOU SHIP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93776" y="18745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必须验证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18745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必须守住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532888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60120" y="2633472"/>
            <a:ext cx="438912" cy="0"/>
          </a:xfrm>
          <a:prstGeom prst="line">
            <a:avLst/>
          </a:prstGeom>
          <a:noFill/>
          <a:ln w="10160">
            <a:solidFill>
              <a:srgbClr val="D8D5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54480" y="24871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能运行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52928" y="249631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真实入口可启动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3319272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60120" y="3419856"/>
            <a:ext cx="438912" cy="0"/>
          </a:xfrm>
          <a:prstGeom prst="line">
            <a:avLst/>
          </a:prstGeom>
          <a:noFill/>
          <a:ln w="10160">
            <a:solidFill>
              <a:srgbClr val="D8D5D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54480" y="32735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有测试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852928" y="328269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正常与失败路径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4105656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0120" y="4206240"/>
            <a:ext cx="438912" cy="0"/>
          </a:xfrm>
          <a:prstGeom prst="line">
            <a:avLst/>
          </a:prstGeom>
          <a:noFill/>
          <a:ln w="10160">
            <a:solidFill>
              <a:srgbClr val="D8D5D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554480" y="40599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可审查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852928" y="406908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Diff 小且可解释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181344" y="2532888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38544" y="2633472"/>
            <a:ext cx="438912" cy="0"/>
          </a:xfrm>
          <a:prstGeom prst="line">
            <a:avLst/>
          </a:prstGeom>
          <a:noFill/>
          <a:ln w="10160">
            <a:solidFill>
              <a:srgbClr val="D8D5D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32904" y="248716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814816" y="2496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外部内容不可信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181344" y="3319272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638544" y="3419856"/>
            <a:ext cx="438912" cy="0"/>
          </a:xfrm>
          <a:prstGeom prst="line">
            <a:avLst/>
          </a:prstGeom>
          <a:noFill/>
          <a:ln w="10160">
            <a:solidFill>
              <a:srgbClr val="D8D5D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32904" y="327355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814816" y="32826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最小授权与确认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181344" y="4105656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638544" y="4206240"/>
            <a:ext cx="438912" cy="0"/>
          </a:xfrm>
          <a:prstGeom prst="line">
            <a:avLst/>
          </a:prstGeom>
          <a:noFill/>
          <a:ln w="10160">
            <a:solidFill>
              <a:srgbClr val="D8D5D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32904" y="405993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秘密与依赖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814816" y="4069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不泄露、不盲装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93776" y="5157216"/>
            <a:ext cx="11210544" cy="658368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4672" y="5340096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模型输出 = 未验证候选实现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8138160" y="5358384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BF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发布决定始终由人负责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D8D5D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来源：SRC-GH-BEST · SRC-OWASP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5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320040"/>
            <a:ext cx="5303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10-MINUTE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VIBE CODING LAB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2029968"/>
            <a:ext cx="31272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10:00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264408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只完成一个小闭环，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不比赛谁写得多。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15968" y="1993392"/>
            <a:ext cx="3675888" cy="1207008"/>
          </a:xfrm>
          <a:prstGeom prst="rect">
            <a:avLst/>
          </a:prstGeom>
          <a:solidFill>
            <a:srgbClr val="F5F3EF"/>
          </a:solidFill>
          <a:ln w="12700">
            <a:solidFill>
              <a:srgbClr val="F5F3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53712" y="221284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4553712" y="251460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为静态待办页增加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“未完成”筛选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11312" y="2423160"/>
            <a:ext cx="3493008" cy="1755648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67344" y="267919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8467344" y="2999232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段结构化提示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个可运行切片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条验证证据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315968" y="3730752"/>
            <a:ext cx="3675888" cy="1371600"/>
          </a:xfrm>
          <a:prstGeom prst="rect">
            <a:avLst/>
          </a:prstGeom>
          <a:solidFill>
            <a:srgbClr val="073E96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53712" y="3977640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4553712" y="431596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一次只改一个行为；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失败必须保留并修复。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 rot="-120000">
            <a:off x="9253728" y="4809744"/>
            <a:ext cx="1682496" cy="512064"/>
          </a:xfrm>
          <a:prstGeom prst="rect">
            <a:avLst/>
          </a:prstGeom>
          <a:noFill/>
          <a:ln w="13970"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START SMALL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36363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8C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来源：SRC-GH-PROMPT · SRC-LOCAL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384048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LET AI MOVE FAST.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KEEP HUMAN JUDGMENT.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359152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Vibe Coding 的价值来自更短反馈；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它的安全来自人类保留判断。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4005072"/>
            <a:ext cx="4937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F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下一次编码，从一个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BF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可验证的薄切片开始。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699248" y="1847088"/>
            <a:ext cx="3931920" cy="1353312"/>
          </a:xfrm>
          <a:prstGeom prst="rect">
            <a:avLst/>
          </a:prstGeom>
          <a:solidFill>
            <a:srgbClr val="F5F3EF"/>
          </a:solidFill>
          <a:ln w="12700">
            <a:solidFill>
              <a:srgbClr val="F5F3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91856" y="213969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796528" y="2084832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生成候选实现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加速探索与修改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99248" y="3456432"/>
            <a:ext cx="3931920" cy="1664208"/>
          </a:xfrm>
          <a:prstGeom prst="rect">
            <a:avLst/>
          </a:prstGeom>
          <a:solidFill>
            <a:srgbClr val="0B55C8"/>
          </a:solidFill>
          <a:ln w="12700">
            <a:solidFill>
              <a:srgbClr val="0B55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91856" y="3767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070848" y="3694176"/>
            <a:ext cx="19751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定义目标与边界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审查证据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批准发布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47472" y="59253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/ CODE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132320" y="5888736"/>
            <a:ext cx="274320" cy="-27432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0" y="5614416"/>
            <a:ext cx="27432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36363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8C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来源：SRC-GH-BEST · SRC-OWASP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Coding：从一句想法到可验证产品</dc:title>
  <dc:subject>Vibe Coding 教学</dc:subject>
  <dc:creator>Codex</dc:creator>
  <cp:lastModifiedBy>Codex</cp:lastModifiedBy>
  <cp:revision>1</cp:revision>
  <dcterms:created xsi:type="dcterms:W3CDTF">2026-07-11T12:42:13Z</dcterms:created>
  <dcterms:modified xsi:type="dcterms:W3CDTF">2026-07-11T12:42:13Z</dcterms:modified>
</cp:coreProperties>
</file>