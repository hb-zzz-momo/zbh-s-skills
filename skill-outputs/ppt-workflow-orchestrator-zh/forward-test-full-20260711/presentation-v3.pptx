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返工人时</c:v>
                </c:pt>
              </c:strCache>
            </c:strRef>
          </c:tx>
          <c:spPr>
            <a:solidFill>
              <a:srgbClr val="2E5B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5B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362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先做三页切片</c:v>
                  </c:pt>
                  <c:pt idx="1">
                    <c:v>直接做完整 6 页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单位：人时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今天只讨论一项流程变更：任何正式汇报，在批量构建之前，先交付并通过三页纵向切片。它不是提前美化，而是用三张高风险页面验证整套方向。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为什么不是随便挑三页？封面测试主题与行动，机制页测试最复杂逻辑，数据页测试证据口径。这三页分别是三种不同风险的探针。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切片必须走完一个小型但真实的交付闭环：有契约、有可编辑构建、有 Office 实际渲染、有问题清单、有修复复验。通过才批量构建；不通过时，错误只停留在三页。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这里的 7 与 18 是构造示例，只说明机制，不代表我们的真实效率。关键不是具体节省多少，而是方向错误在三页阶段被发现时，受影响页面更少。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为了避免门禁变成审美争论，我们把它写成 Definition of Done：提交什么、检查什么、什么情况阻断都明确。判断的是方向能否复制，而不是三页是否已经像最终稿一样完美。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我请求批准一条清晰规则：切片未 PASS，不做全量。先在下一次正式技术汇报中试运行一轮，交付三页可编辑源稿、真实渲染和 QA 记录，再决定是否长期固化。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ORIAL_MASTER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9377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6625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9377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6625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30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发布门禁提案 / 6 页技术汇报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5806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先验证三页，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再复制方向到整套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312724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用最小可验证表达面，提前拦截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叙事、机制与证据风险。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4443984"/>
            <a:ext cx="5010912" cy="56692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590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请求批准：纳入正式汇报发布门禁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rot="-360000">
            <a:off x="6821424" y="1097280"/>
            <a:ext cx="2212848" cy="3968496"/>
          </a:xfrm>
          <a:prstGeom prst="rect">
            <a:avLst/>
          </a:prstGeom>
          <a:solidFill>
            <a:srgbClr val="F8F2E7"/>
          </a:solidFill>
          <a:ln w="11430">
            <a:solidFill>
              <a:srgbClr val="D7CDBE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 rot="-360000">
            <a:off x="7095744" y="1408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 rot="-360000">
            <a:off x="7095744" y="324612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 rot="-360000">
            <a:off x="7114032" y="37673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主题风险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60000">
            <a:off x="8321040" y="1298448"/>
            <a:ext cx="2212848" cy="3968496"/>
          </a:xfrm>
          <a:prstGeom prst="rect">
            <a:avLst/>
          </a:prstGeom>
          <a:solidFill>
            <a:srgbClr val="FBF8F1"/>
          </a:solidFill>
          <a:ln w="16510">
            <a:solidFill>
              <a:srgbClr val="2E5B4D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 rot="60000">
            <a:off x="8595360" y="1609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 rot="60000">
            <a:off x="8595360" y="344728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 rot="60000">
            <a:off x="8613648" y="39684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逻辑风险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420000">
            <a:off x="9784080" y="1527048"/>
            <a:ext cx="2048256" cy="3840480"/>
          </a:xfrm>
          <a:prstGeom prst="rect">
            <a:avLst/>
          </a:prstGeom>
          <a:solidFill>
            <a:srgbClr val="F8F2E7"/>
          </a:solidFill>
          <a:ln w="11430">
            <a:solidFill>
              <a:srgbClr val="D7CDBE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 rot="420000">
            <a:off x="10058400" y="1837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 rot="420000">
            <a:off x="10058400" y="367588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 rot="420000">
            <a:off x="10076688" y="419709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可信风险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61539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THREE-SLIDE VERTICAL SLICES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 · SRC-002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THREE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三页切片覆盖三类最昂贵的方向性错误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76656" y="1773936"/>
            <a:ext cx="3246120" cy="3328416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02996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43230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主题风险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2688" y="3090672"/>
            <a:ext cx="2734056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3383280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一句话能否让负责人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知道要批准什么？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608576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观察信号  /  主张与行动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2048256"/>
            <a:ext cx="3639312" cy="3584448"/>
          </a:xfrm>
          <a:prstGeom prst="rect">
            <a:avLst/>
          </a:prstGeom>
          <a:solidFill>
            <a:srgbClr val="EEF2EC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16552" y="23042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270662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592824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逻辑风险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16552" y="3364992"/>
            <a:ext cx="312724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16552" y="3657600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最复杂链路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能否被一次讲清？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416552" y="513892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观察信号  /  结构与层级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1572768"/>
            <a:ext cx="3438144" cy="3163824"/>
          </a:xfrm>
          <a:prstGeom prst="rect">
            <a:avLst/>
          </a:prstGeom>
          <a:solidFill>
            <a:srgbClr val="F8ECE7"/>
          </a:solidFill>
          <a:ln w="15240">
            <a:solidFill>
              <a:srgbClr val="A936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2752" y="182880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2231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2500" dirty="0"/>
          </a:p>
        </p:txBody>
      </p:sp>
      <p:sp>
        <p:nvSpPr>
          <p:cNvPr id="23" name="Text 21"/>
          <p:cNvSpPr txBox="1"/>
          <p:nvPr/>
        </p:nvSpPr>
        <p:spPr>
          <a:xfrm>
            <a:off x="10277856" y="2286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可信风险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02752" y="2889504"/>
            <a:ext cx="292608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02752" y="31821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口径、标注与结论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是否同向？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42428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观察信号  /  证据与边界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833872"/>
            <a:ext cx="10012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三张通过，才说明这套表达系统值得复制。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GATED LOOP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 PASS，才进入全量构建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定契约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一页一结论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677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334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做三页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334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/ 机制 / 数据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965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15968" y="2011680"/>
            <a:ext cx="1572768" cy="1664208"/>
          </a:xfrm>
          <a:prstGeom prst="rect">
            <a:avLst/>
          </a:prstGeom>
          <a:solidFill>
            <a:srgbClr val="E8EFEA"/>
          </a:solidFill>
          <a:ln w="16510">
            <a:solidFill>
              <a:srgbClr val="2E5B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622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真渲染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Office → PDF → PNG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253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447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910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查问题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/ 几何 / 视觉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541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735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198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1198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修复复验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1198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切片与 Montage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93808" y="1737360"/>
            <a:ext cx="1664208" cy="221284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49840" y="202996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D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SLICE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085832" y="243230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</a:t>
            </a:r>
            <a:endParaRPr lang="en-US" sz="25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31089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进入全量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01200" y="2834640"/>
            <a:ext cx="219456" cy="0"/>
          </a:xfrm>
          <a:prstGeom prst="line">
            <a:avLst/>
          </a:prstGeom>
          <a:noFill/>
          <a:ln w="17780">
            <a:solidFill>
              <a:srgbClr val="193C3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735056" y="4187952"/>
            <a:ext cx="0" cy="658368"/>
          </a:xfrm>
          <a:prstGeom prst="line">
            <a:avLst/>
          </a:prstGeom>
          <a:noFill/>
          <a:ln w="17780">
            <a:solidFill>
              <a:srgbClr val="A936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4640" y="4846320"/>
            <a:ext cx="7900416" cy="0"/>
          </a:xfrm>
          <a:prstGeom prst="line">
            <a:avLst/>
          </a:prstGeom>
          <a:noFill/>
          <a:ln w="17780">
            <a:solidFill>
              <a:srgbClr val="A93624"/>
            </a:solidFill>
            <a:prstDash val="solid"/>
            <a:headEnd type="triangle"/>
          </a:ln>
        </p:spPr>
      </p:sp>
      <p:sp>
        <p:nvSpPr>
          <p:cNvPr id="37" name="Text 35"/>
          <p:cNvSpPr txBox="1"/>
          <p:nvPr/>
        </p:nvSpPr>
        <p:spPr>
          <a:xfrm>
            <a:off x="8046720" y="49560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FAIL：只返工三页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" y="56509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先缩小错误半径，再扩大生产半径。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 rot="-120000">
            <a:off x="9546336" y="5541264"/>
            <a:ext cx="1517904" cy="493776"/>
          </a:xfrm>
          <a:prstGeom prst="rect">
            <a:avLst/>
          </a:prstGeom>
          <a:noFill/>
          <a:ln w="21590">
            <a:solidFill>
              <a:srgbClr val="A9362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先切片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 · SRC-003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ILLUSTRATIVE DATA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方向错误越晚发现，返工面越大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 rot="-120000">
            <a:off x="9948672" y="438912"/>
            <a:ext cx="1508760" cy="475488"/>
          </a:xfrm>
          <a:prstGeom prst="rect">
            <a:avLst/>
          </a:prstGeom>
          <a:noFill/>
          <a:ln w="21590">
            <a:solidFill>
              <a:srgbClr val="A9362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5179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仅用于说明机制，不代表真实团队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755648"/>
            <a:ext cx="6812280" cy="4023360"/>
          </a:xfrm>
          <a:prstGeom prst="rect">
            <a:avLst/>
          </a:prstGeom>
          <a:solidFill>
            <a:srgbClr val="FBF8F1"/>
          </a:solidFill>
          <a:ln w="8890">
            <a:solidFill>
              <a:srgbClr val="D7CDB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返工人时（构造示例）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932688" y="2267712"/>
          <a:ext cx="614476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991856" y="1956816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差异来自返工范围，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不是制作速度承诺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8010144" y="3108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449056" y="3218688"/>
            <a:ext cx="36576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24544" y="30175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切片流程：3 页修正 + 复验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010144" y="37856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49056" y="3895344"/>
            <a:ext cx="36576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924544" y="36941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直接全量：6 页返工 + 统一重排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955280" y="4736592"/>
            <a:ext cx="3493008" cy="1005840"/>
          </a:xfrm>
          <a:prstGeom prst="rect">
            <a:avLst/>
          </a:prstGeom>
          <a:solidFill>
            <a:srgbClr val="F8E9E4"/>
          </a:solidFill>
          <a:ln w="10160">
            <a:solidFill>
              <a:srgbClr val="E8B6A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11312" y="4983480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所有数值均为构造示例；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正式门禁不以该比例承诺收益。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来源：SRC-004（示例数据）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DEFINITION OF DONE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把审美争论改写成可验收的 Definition of Done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必须提交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必须检查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957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25296" y="2523744"/>
            <a:ext cx="56692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23225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页可编辑 PPTX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200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25296" y="3328416"/>
            <a:ext cx="56692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20240" y="312724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Office 渲染图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0050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25296" y="4133088"/>
            <a:ext cx="56692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20240" y="393192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结构化批准记录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705856" y="23957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322576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一页一结论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4496" y="2761488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05856" y="30175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2944368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字体与母题一致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54496" y="3383280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05856" y="36393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356616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图表口径与标注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54496" y="4005072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05856" y="42611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54496" y="418795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无溢出 / 遮挡 / 占位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54496" y="4626864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5047488"/>
            <a:ext cx="10753344" cy="74980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7552" y="5276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139696" y="52120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任一代表页方向未通过，不得进入全量构建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66176" y="518464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D9E2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判断方向是否可复制，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D9E2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不是把三页磨到最终像素。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 · SRC-003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A93624"/>
          </a:solidFill>
          <a:ln w="12700">
            <a:solidFill>
              <a:srgbClr val="A936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今天批准一条规则：切片未 PASS，不做全量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55648"/>
            <a:ext cx="66934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批准将“三页纵向切片 PASS”设为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正式汇报全量构建的放行条件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 rot="-120000">
            <a:off x="9564624" y="1572768"/>
            <a:ext cx="1810512" cy="603504"/>
          </a:xfrm>
          <a:prstGeom prst="rect">
            <a:avLst/>
          </a:prstGeom>
          <a:noFill/>
          <a:ln w="21590">
            <a:solidFill>
              <a:srgbClr val="F5B5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请求批准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5478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4930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34930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E6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+ 最复杂机制页 + 数据/总结页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298448" y="3895344"/>
            <a:ext cx="6035040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4151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40965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40965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E6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可编辑源稿 + 真实渲染 + QA 记录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98448" y="4498848"/>
            <a:ext cx="6035040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47548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4700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试运行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78608" y="4700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E6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下一次正式技术汇报先执行一轮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298448" y="5102352"/>
            <a:ext cx="6035040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3218688"/>
            <a:ext cx="3163824" cy="2048256"/>
          </a:xfrm>
          <a:prstGeom prst="rect">
            <a:avLst/>
          </a:prstGeom>
          <a:solidFill>
            <a:srgbClr val="F4EFE5"/>
          </a:solidFill>
          <a:ln w="12700">
            <a:solidFill>
              <a:srgbClr val="F4EF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85632" y="352958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放行规则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67344" y="3986784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SLICE PASS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8503920" y="4681728"/>
            <a:ext cx="932688" cy="0"/>
          </a:xfrm>
          <a:prstGeom prst="line">
            <a:avLst/>
          </a:prstGeom>
          <a:noFill/>
          <a:ln w="17780">
            <a:solidFill>
              <a:srgbClr val="A93624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9601200" y="45537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BUILD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8704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FD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下一次正式技术汇报 / 先试运行一轮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D4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 · SRC-002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为什么正式汇报要先做三页纵向切片</dc:title>
  <dc:subject>发布门禁提案</dc:subject>
  <dc:creator>Codex</dc:creator>
  <cp:lastModifiedBy>Codex</cp:lastModifiedBy>
  <cp:revision>1</cp:revision>
  <dcterms:created xsi:type="dcterms:W3CDTF">2026-07-11T11:59:47Z</dcterms:created>
  <dcterms:modified xsi:type="dcterms:W3CDTF">2026-07-11T11:59:47Z</dcterms:modified>
</cp:coreProperties>
</file>