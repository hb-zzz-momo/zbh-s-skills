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返工人时</c:v>
                </c:pt>
              </c:strCache>
            </c:strRef>
          </c:tx>
          <c:spPr>
            <a:solidFill>
              <a:srgbClr val="2E5B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E5B4D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A93624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先做三页切片</c:v>
                  </c:pt>
                  <c:pt idx="1">
                    <c:v>直接做完整 6 页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</c:v>
                </c:pt>
                <c:pt idx="1">
                  <c:v>18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Arial"/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Microsoft YaHe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b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单位：人时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Microsoft YaHe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今天只讨论一项流程变更：任何正式汇报，在批量构建之前，先交付并通过三页纵向切片。它不是提前美化，而是用三张高风险页面验证整套方向。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为什么不是随便挑三页？封面测试主题与行动，机制页测试最复杂逻辑，数据页测试证据口径。这三页分别是三种不同风险的探针。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切片必须走完一个小型但真实的交付闭环：有契约、有可编辑构建、有 Office 实际渲染、有问题清单、有修复复验。通过才批量构建；不通过时，错误只停留在三页。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这里的 7 与 18 是构造示例，只说明机制，不代表我们的真实效率。关键不是具体节省多少，而是方向错误在三页阶段被发现时，受影响页面更少。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为了避免门禁变成审美争论，我们把它写成 Definition of Done：提交什么、检查什么、什么情况阻断都明确。判断的是方向能否复制，而不是三页是否已经像最终稿一样完美。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我请求批准一条清晰规则：切片未 PASS，不做全量。先在下一次正式技术汇报中试运行一轮，交付三页可编辑源稿、真实渲染和 QA 记录，再决定是否长期固化。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DITORIAL_MASTER">
    <p:bg>
      <p:bgPr>
        <a:solidFill>
          <a:srgbClr val="F4EF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37392" y="6473952"/>
            <a:ext cx="493776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6625C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37392" y="6473952"/>
            <a:ext cx="493776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6625C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EF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30352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A936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发布门禁提案 / 6 页技术汇报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98448"/>
            <a:ext cx="580644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93C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先验证三页，</a:t>
            </a:r>
            <a:endParaRPr lang="en-US" sz="4000" dirty="0"/>
          </a:p>
          <a:p>
            <a:pPr algn="l" indent="0" marL="0">
              <a:buNone/>
            </a:pPr>
            <a:r>
              <a:rPr lang="en-US" sz="4000" b="1" dirty="0">
                <a:solidFill>
                  <a:srgbClr val="193C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再复制方向到整套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676656" y="3127248"/>
            <a:ext cx="5212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E29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用最小可验证表达面，提前拦截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1E29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叙事、机制与证据风险。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58368" y="4443984"/>
            <a:ext cx="5010912" cy="566928"/>
          </a:xfrm>
          <a:prstGeom prst="rect">
            <a:avLst/>
          </a:prstGeom>
          <a:solidFill>
            <a:srgbClr val="193C34"/>
          </a:solidFill>
          <a:ln w="12700">
            <a:solidFill>
              <a:srgbClr val="193C3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96112" y="4590288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请求批准：纳入正式汇报发布门禁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 rot="-360000">
            <a:off x="6821424" y="1097280"/>
            <a:ext cx="2212848" cy="3968496"/>
          </a:xfrm>
          <a:prstGeom prst="rect">
            <a:avLst/>
          </a:prstGeom>
          <a:solidFill>
            <a:srgbClr val="F8F2E7"/>
          </a:solidFill>
          <a:ln w="11430">
            <a:solidFill>
              <a:srgbClr val="D7CDBE"/>
            </a:solidFill>
            <a:prstDash val="solid"/>
          </a:ln>
          <a:effectLst>
            <a:outerShdw sx="100000" sy="100000" kx="0" ky="0" algn="bl" rotWithShape="0" blurRad="20320" dist="50800" dir="2700000">
              <a:srgbClr val="827A70">
                <a:alpha val="16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 rot="-360000">
            <a:off x="7095744" y="14081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936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 rot="-360000">
            <a:off x="7095744" y="3246120"/>
            <a:ext cx="16824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93C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封面</a:t>
            </a:r>
            <a:endParaRPr lang="en-US" sz="2300" dirty="0"/>
          </a:p>
        </p:txBody>
      </p:sp>
      <p:sp>
        <p:nvSpPr>
          <p:cNvPr id="10" name="Text 8"/>
          <p:cNvSpPr txBox="1"/>
          <p:nvPr/>
        </p:nvSpPr>
        <p:spPr>
          <a:xfrm rot="-360000">
            <a:off x="7114032" y="3767328"/>
            <a:ext cx="166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5662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主题风险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 rot="60000">
            <a:off x="8321040" y="1298448"/>
            <a:ext cx="2212848" cy="3968496"/>
          </a:xfrm>
          <a:prstGeom prst="rect">
            <a:avLst/>
          </a:prstGeom>
          <a:solidFill>
            <a:srgbClr val="FBF8F1"/>
          </a:solidFill>
          <a:ln w="16510">
            <a:solidFill>
              <a:srgbClr val="2E5B4D"/>
            </a:solidFill>
            <a:prstDash val="solid"/>
          </a:ln>
          <a:effectLst>
            <a:outerShdw sx="100000" sy="100000" kx="0" ky="0" algn="bl" rotWithShape="0" blurRad="20320" dist="50800" dir="2700000">
              <a:srgbClr val="827A70">
                <a:alpha val="16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 rot="60000">
            <a:off x="8595360" y="160934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936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 rot="60000">
            <a:off x="8595360" y="3447288"/>
            <a:ext cx="16824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93C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机制</a:t>
            </a:r>
            <a:endParaRPr lang="en-US" sz="2300" dirty="0"/>
          </a:p>
        </p:txBody>
      </p:sp>
      <p:sp>
        <p:nvSpPr>
          <p:cNvPr id="14" name="Text 12"/>
          <p:cNvSpPr txBox="1"/>
          <p:nvPr/>
        </p:nvSpPr>
        <p:spPr>
          <a:xfrm rot="60000">
            <a:off x="8613648" y="3968496"/>
            <a:ext cx="166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5662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逻辑风险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 rot="420000">
            <a:off x="9784080" y="1527048"/>
            <a:ext cx="2048256" cy="3840480"/>
          </a:xfrm>
          <a:prstGeom prst="rect">
            <a:avLst/>
          </a:prstGeom>
          <a:solidFill>
            <a:srgbClr val="F8F2E7"/>
          </a:solidFill>
          <a:ln w="11430">
            <a:solidFill>
              <a:srgbClr val="D7CDBE"/>
            </a:solidFill>
            <a:prstDash val="solid"/>
          </a:ln>
          <a:effectLst>
            <a:outerShdw sx="100000" sy="100000" kx="0" ky="0" algn="bl" rotWithShape="0" blurRad="20320" dist="50800" dir="2700000">
              <a:srgbClr val="827A70">
                <a:alpha val="16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 rot="420000">
            <a:off x="10058400" y="183794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936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 rot="420000">
            <a:off x="10058400" y="3675888"/>
            <a:ext cx="15179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93C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</a:t>
            </a:r>
            <a:endParaRPr lang="en-US" sz="2300" dirty="0"/>
          </a:p>
        </p:txBody>
      </p:sp>
      <p:sp>
        <p:nvSpPr>
          <p:cNvPr id="18" name="Text 16"/>
          <p:cNvSpPr txBox="1"/>
          <p:nvPr/>
        </p:nvSpPr>
        <p:spPr>
          <a:xfrm rot="420000">
            <a:off x="10076688" y="4197096"/>
            <a:ext cx="1499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5662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可信风险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658368" y="6153912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140" kern="0" dirty="0">
                <a:solidFill>
                  <a:srgbClr val="5662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WHY THREE-SLIDE VERTICAL SLICES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66928" y="6419088"/>
            <a:ext cx="11055096" cy="0"/>
          </a:xfrm>
          <a:prstGeom prst="line">
            <a:avLst/>
          </a:prstGeom>
          <a:noFill/>
          <a:ln w="8890">
            <a:solidFill>
              <a:srgbClr val="D7CDB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66928" y="6473952"/>
            <a:ext cx="9966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662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来源：SRC-001 · SRC-002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EF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84632"/>
            <a:ext cx="73152" cy="329184"/>
          </a:xfrm>
          <a:prstGeom prst="rect">
            <a:avLst/>
          </a:prstGeom>
          <a:solidFill>
            <a:srgbClr val="193C34"/>
          </a:solidFill>
          <a:ln w="12700">
            <a:solidFill>
              <a:srgbClr val="193C3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31520" y="457200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93C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02/06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1298448" y="457200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spc="120" kern="0" dirty="0">
                <a:solidFill>
                  <a:srgbClr val="A936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WHY THREE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877824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93C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三页切片覆盖三类关键的方向性错误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676656" y="1773936"/>
            <a:ext cx="3246120" cy="3328416"/>
          </a:xfrm>
          <a:prstGeom prst="rect">
            <a:avLst/>
          </a:prstGeom>
          <a:solidFill>
            <a:srgbClr val="FBF8F1"/>
          </a:solidFill>
          <a:ln w="10160">
            <a:solidFill>
              <a:srgbClr val="D7CDB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32688" y="2029968"/>
            <a:ext cx="438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A936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932688" y="2432304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93C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封面</a:t>
            </a:r>
            <a:endParaRPr lang="en-US" sz="2500" dirty="0"/>
          </a:p>
        </p:txBody>
      </p:sp>
      <p:sp>
        <p:nvSpPr>
          <p:cNvPr id="9" name="Text 7"/>
          <p:cNvSpPr txBox="1"/>
          <p:nvPr/>
        </p:nvSpPr>
        <p:spPr>
          <a:xfrm>
            <a:off x="2715768" y="248716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A936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主题风险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32688" y="3090672"/>
            <a:ext cx="2734056" cy="0"/>
          </a:xfrm>
          <a:prstGeom prst="line">
            <a:avLst/>
          </a:prstGeom>
          <a:noFill/>
          <a:ln w="10160">
            <a:solidFill>
              <a:srgbClr val="D7CDB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32688" y="3383280"/>
            <a:ext cx="27340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E29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一句话能否让负责人</a:t>
            </a:r>
            <a:endParaRPr lang="en-US" sz="1700" dirty="0"/>
          </a:p>
          <a:p>
            <a:pPr algn="l" indent="0" marL="0">
              <a:buNone/>
            </a:pPr>
            <a:r>
              <a:rPr lang="en-US" sz="1700" b="1" dirty="0">
                <a:solidFill>
                  <a:srgbClr val="1E29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知道要批准什么？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932688" y="4608576"/>
            <a:ext cx="2734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662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观察信号  /  主张与行动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160520" y="2048256"/>
            <a:ext cx="3639312" cy="3584448"/>
          </a:xfrm>
          <a:prstGeom prst="rect">
            <a:avLst/>
          </a:prstGeom>
          <a:solidFill>
            <a:srgbClr val="EEF2EC"/>
          </a:solidFill>
          <a:ln w="10160">
            <a:solidFill>
              <a:srgbClr val="D7CDB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416552" y="2304288"/>
            <a:ext cx="438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A936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4416552" y="2706624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93C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机制</a:t>
            </a:r>
            <a:endParaRPr lang="en-US" sz="2500" dirty="0"/>
          </a:p>
        </p:txBody>
      </p:sp>
      <p:sp>
        <p:nvSpPr>
          <p:cNvPr id="16" name="Text 14"/>
          <p:cNvSpPr txBox="1"/>
          <p:nvPr/>
        </p:nvSpPr>
        <p:spPr>
          <a:xfrm>
            <a:off x="6592824" y="276148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A936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逻辑风险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416552" y="3364992"/>
            <a:ext cx="3127248" cy="0"/>
          </a:xfrm>
          <a:prstGeom prst="line">
            <a:avLst/>
          </a:prstGeom>
          <a:noFill/>
          <a:ln w="10160">
            <a:solidFill>
              <a:srgbClr val="D7CDB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416552" y="3657600"/>
            <a:ext cx="31272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E29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最复杂链路</a:t>
            </a:r>
            <a:endParaRPr lang="en-US" sz="1700" dirty="0"/>
          </a:p>
          <a:p>
            <a:pPr algn="l" indent="0" marL="0">
              <a:buNone/>
            </a:pPr>
            <a:r>
              <a:rPr lang="en-US" sz="1700" b="1" dirty="0">
                <a:solidFill>
                  <a:srgbClr val="1E29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能否被一次讲清？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4416552" y="5138928"/>
            <a:ext cx="3127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662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观察信号  /  结构与层级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8046720" y="1572768"/>
            <a:ext cx="3438144" cy="3163824"/>
          </a:xfrm>
          <a:prstGeom prst="rect">
            <a:avLst/>
          </a:prstGeom>
          <a:solidFill>
            <a:srgbClr val="F8ECE7"/>
          </a:solidFill>
          <a:ln w="15240">
            <a:solidFill>
              <a:srgbClr val="A93624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302752" y="1828800"/>
            <a:ext cx="438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A936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8302752" y="223113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93C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</a:t>
            </a:r>
            <a:endParaRPr lang="en-US" sz="2500" dirty="0"/>
          </a:p>
        </p:txBody>
      </p:sp>
      <p:sp>
        <p:nvSpPr>
          <p:cNvPr id="23" name="Text 21"/>
          <p:cNvSpPr txBox="1"/>
          <p:nvPr/>
        </p:nvSpPr>
        <p:spPr>
          <a:xfrm>
            <a:off x="10277856" y="22860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A936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可信风险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302752" y="2889504"/>
            <a:ext cx="2926080" cy="0"/>
          </a:xfrm>
          <a:prstGeom prst="line">
            <a:avLst/>
          </a:prstGeom>
          <a:noFill/>
          <a:ln w="10160">
            <a:solidFill>
              <a:srgbClr val="D7CDBE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302752" y="3182112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E29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口径、标注与结论</a:t>
            </a:r>
            <a:endParaRPr lang="en-US" sz="1700" dirty="0"/>
          </a:p>
          <a:p>
            <a:pPr algn="l" indent="0" marL="0">
              <a:buNone/>
            </a:pPr>
            <a:r>
              <a:rPr lang="en-US" sz="1700" b="1" dirty="0">
                <a:solidFill>
                  <a:srgbClr val="1E29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是否同向？</a:t>
            </a:r>
            <a:endParaRPr lang="en-US" sz="1700" dirty="0"/>
          </a:p>
        </p:txBody>
      </p:sp>
      <p:sp>
        <p:nvSpPr>
          <p:cNvPr id="26" name="Text 24"/>
          <p:cNvSpPr txBox="1"/>
          <p:nvPr/>
        </p:nvSpPr>
        <p:spPr>
          <a:xfrm>
            <a:off x="8302752" y="4242816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662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观察信号  /  证据与边界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1097280" y="5833872"/>
            <a:ext cx="10012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93C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三张通过，才说明这套表达系统值得复制。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566928" y="6419088"/>
            <a:ext cx="11055096" cy="0"/>
          </a:xfrm>
          <a:prstGeom prst="line">
            <a:avLst/>
          </a:prstGeom>
          <a:noFill/>
          <a:ln w="8890">
            <a:solidFill>
              <a:srgbClr val="D7CDBE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66928" y="6473952"/>
            <a:ext cx="9966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662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来源：SRC-002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EF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84632"/>
            <a:ext cx="73152" cy="329184"/>
          </a:xfrm>
          <a:prstGeom prst="rect">
            <a:avLst/>
          </a:prstGeom>
          <a:solidFill>
            <a:srgbClr val="193C34"/>
          </a:solidFill>
          <a:ln w="12700">
            <a:solidFill>
              <a:srgbClr val="193C3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31520" y="457200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93C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03/06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1298448" y="457200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spc="120" kern="0" dirty="0">
                <a:solidFill>
                  <a:srgbClr val="A936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GATED LOOP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877824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93C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切片 PASS，才进入全量构建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658368" y="2011680"/>
            <a:ext cx="1572768" cy="1664208"/>
          </a:xfrm>
          <a:prstGeom prst="rect">
            <a:avLst/>
          </a:prstGeom>
          <a:solidFill>
            <a:srgbClr val="FBF8F1"/>
          </a:solidFill>
          <a:ln w="10160">
            <a:solidFill>
              <a:srgbClr val="D7CDB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04672" y="2139696"/>
            <a:ext cx="274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A936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804672" y="2514600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93C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定契约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804672" y="3063240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662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一页一结论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267712" y="2852928"/>
            <a:ext cx="182880" cy="0"/>
          </a:xfrm>
          <a:prstGeom prst="line">
            <a:avLst/>
          </a:prstGeom>
          <a:noFill/>
          <a:ln w="17780">
            <a:solidFill>
              <a:srgbClr val="2E5B4D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487168" y="2011680"/>
            <a:ext cx="1572768" cy="1664208"/>
          </a:xfrm>
          <a:prstGeom prst="rect">
            <a:avLst/>
          </a:prstGeom>
          <a:solidFill>
            <a:srgbClr val="FBF8F1"/>
          </a:solidFill>
          <a:ln w="10160">
            <a:solidFill>
              <a:srgbClr val="D7CDB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633472" y="2139696"/>
            <a:ext cx="274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A936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2633472" y="2514600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93C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做三页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2633472" y="3063240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662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封面 / 机制 / 数据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096512" y="2852928"/>
            <a:ext cx="182880" cy="0"/>
          </a:xfrm>
          <a:prstGeom prst="line">
            <a:avLst/>
          </a:prstGeom>
          <a:noFill/>
          <a:ln w="17780">
            <a:solidFill>
              <a:srgbClr val="2E5B4D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4315968" y="2011680"/>
            <a:ext cx="1572768" cy="1664208"/>
          </a:xfrm>
          <a:prstGeom prst="rect">
            <a:avLst/>
          </a:prstGeom>
          <a:solidFill>
            <a:srgbClr val="E8EFEA"/>
          </a:solidFill>
          <a:ln w="16510">
            <a:solidFill>
              <a:srgbClr val="2E5B4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462272" y="2139696"/>
            <a:ext cx="274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A936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4462272" y="2514600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93C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真渲染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4462272" y="3063240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662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Office → PDF → PNG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925312" y="2852928"/>
            <a:ext cx="182880" cy="0"/>
          </a:xfrm>
          <a:prstGeom prst="line">
            <a:avLst/>
          </a:prstGeom>
          <a:noFill/>
          <a:ln w="17780">
            <a:solidFill>
              <a:srgbClr val="2E5B4D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6144768" y="2011680"/>
            <a:ext cx="1572768" cy="1664208"/>
          </a:xfrm>
          <a:prstGeom prst="rect">
            <a:avLst/>
          </a:prstGeom>
          <a:solidFill>
            <a:srgbClr val="FBF8F1"/>
          </a:solidFill>
          <a:ln w="10160">
            <a:solidFill>
              <a:srgbClr val="D7CDBE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291072" y="2139696"/>
            <a:ext cx="274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A936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6291072" y="2514600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93C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查问题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6291072" y="3063240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662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 / 几何 / 视觉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7754112" y="2852928"/>
            <a:ext cx="182880" cy="0"/>
          </a:xfrm>
          <a:prstGeom prst="line">
            <a:avLst/>
          </a:prstGeom>
          <a:noFill/>
          <a:ln w="17780">
            <a:solidFill>
              <a:srgbClr val="2E5B4D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7973568" y="2011680"/>
            <a:ext cx="1572768" cy="1664208"/>
          </a:xfrm>
          <a:prstGeom prst="rect">
            <a:avLst/>
          </a:prstGeom>
          <a:solidFill>
            <a:srgbClr val="FBF8F1"/>
          </a:solidFill>
          <a:ln w="10160">
            <a:solidFill>
              <a:srgbClr val="D7CDBE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119872" y="2139696"/>
            <a:ext cx="274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A936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8119872" y="2514600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93C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修复复验</a:t>
            </a:r>
            <a:endParaRPr lang="en-US" sz="1800" dirty="0"/>
          </a:p>
        </p:txBody>
      </p:sp>
      <p:sp>
        <p:nvSpPr>
          <p:cNvPr id="29" name="Text 27"/>
          <p:cNvSpPr txBox="1"/>
          <p:nvPr/>
        </p:nvSpPr>
        <p:spPr>
          <a:xfrm>
            <a:off x="8119872" y="3063240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662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切片与 Montage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9893808" y="1737360"/>
            <a:ext cx="1664208" cy="2212848"/>
          </a:xfrm>
          <a:prstGeom prst="rect">
            <a:avLst/>
          </a:prstGeom>
          <a:solidFill>
            <a:srgbClr val="193C34"/>
          </a:solidFill>
          <a:ln w="12700">
            <a:solidFill>
              <a:srgbClr val="193C34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10149840" y="2029968"/>
            <a:ext cx="11521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FD1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SLICE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10085832" y="2432304"/>
            <a:ext cx="12618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PASS</a:t>
            </a:r>
            <a:endParaRPr lang="en-US" sz="2500" dirty="0"/>
          </a:p>
        </p:txBody>
      </p:sp>
      <p:sp>
        <p:nvSpPr>
          <p:cNvPr id="33" name="Text 31"/>
          <p:cNvSpPr txBox="1"/>
          <p:nvPr/>
        </p:nvSpPr>
        <p:spPr>
          <a:xfrm>
            <a:off x="10104120" y="3108960"/>
            <a:ext cx="1225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进入全量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构建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9601200" y="2834640"/>
            <a:ext cx="219456" cy="0"/>
          </a:xfrm>
          <a:prstGeom prst="line">
            <a:avLst/>
          </a:prstGeom>
          <a:noFill/>
          <a:ln w="17780">
            <a:solidFill>
              <a:srgbClr val="193C34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10735056" y="4187952"/>
            <a:ext cx="0" cy="658368"/>
          </a:xfrm>
          <a:prstGeom prst="line">
            <a:avLst/>
          </a:prstGeom>
          <a:noFill/>
          <a:ln w="17780">
            <a:solidFill>
              <a:srgbClr val="A93624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834640" y="4846320"/>
            <a:ext cx="7900416" cy="0"/>
          </a:xfrm>
          <a:prstGeom prst="line">
            <a:avLst/>
          </a:prstGeom>
          <a:noFill/>
          <a:ln w="17780">
            <a:solidFill>
              <a:srgbClr val="A93624"/>
            </a:solidFill>
            <a:prstDash val="solid"/>
            <a:headEnd type="triangle"/>
          </a:ln>
        </p:spPr>
      </p:sp>
      <p:sp>
        <p:nvSpPr>
          <p:cNvPr id="37" name="Text 35"/>
          <p:cNvSpPr txBox="1"/>
          <p:nvPr/>
        </p:nvSpPr>
        <p:spPr>
          <a:xfrm>
            <a:off x="8046720" y="4956048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A936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FAIL：只返工三页</a:t>
            </a:r>
            <a:endParaRPr lang="en-US" sz="1100" dirty="0"/>
          </a:p>
        </p:txBody>
      </p:sp>
      <p:sp>
        <p:nvSpPr>
          <p:cNvPr id="38" name="Text 36"/>
          <p:cNvSpPr txBox="1"/>
          <p:nvPr/>
        </p:nvSpPr>
        <p:spPr>
          <a:xfrm>
            <a:off x="804672" y="5650992"/>
            <a:ext cx="6949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93C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先缩小错误半径，再扩大生产半径。</a:t>
            </a:r>
            <a:endParaRPr lang="en-US" sz="1800" dirty="0"/>
          </a:p>
        </p:txBody>
      </p:sp>
      <p:sp>
        <p:nvSpPr>
          <p:cNvPr id="39" name="Text 37"/>
          <p:cNvSpPr txBox="1"/>
          <p:nvPr/>
        </p:nvSpPr>
        <p:spPr>
          <a:xfrm rot="-120000">
            <a:off x="9546336" y="5541264"/>
            <a:ext cx="1517904" cy="493776"/>
          </a:xfrm>
          <a:prstGeom prst="rect">
            <a:avLst/>
          </a:prstGeom>
          <a:noFill/>
          <a:ln w="21590">
            <a:solidFill>
              <a:srgbClr val="A93624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936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先切片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566928" y="6419088"/>
            <a:ext cx="11055096" cy="0"/>
          </a:xfrm>
          <a:prstGeom prst="line">
            <a:avLst/>
          </a:prstGeom>
          <a:noFill/>
          <a:ln w="8890">
            <a:solidFill>
              <a:srgbClr val="D7CDBE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566928" y="6473952"/>
            <a:ext cx="9966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662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来源：SRC-002 · SRC-003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EF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84632"/>
            <a:ext cx="73152" cy="329184"/>
          </a:xfrm>
          <a:prstGeom prst="rect">
            <a:avLst/>
          </a:prstGeom>
          <a:solidFill>
            <a:srgbClr val="193C34"/>
          </a:solidFill>
          <a:ln w="12700">
            <a:solidFill>
              <a:srgbClr val="193C3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31520" y="457200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93C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04/06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1298448" y="457200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spc="120" kern="0" dirty="0">
                <a:solidFill>
                  <a:srgbClr val="A936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ILLUSTRATIVE DATA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877824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93C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方向错误越晚发现，返工面越大</a:t>
            </a:r>
            <a:endParaRPr lang="en-US" sz="2900" dirty="0"/>
          </a:p>
        </p:txBody>
      </p:sp>
      <p:sp>
        <p:nvSpPr>
          <p:cNvPr id="6" name="Text 4"/>
          <p:cNvSpPr txBox="1"/>
          <p:nvPr/>
        </p:nvSpPr>
        <p:spPr>
          <a:xfrm rot="-120000">
            <a:off x="9948672" y="438912"/>
            <a:ext cx="1508760" cy="475488"/>
          </a:xfrm>
          <a:prstGeom prst="rect">
            <a:avLst/>
          </a:prstGeom>
          <a:noFill/>
          <a:ln w="21590">
            <a:solidFill>
              <a:srgbClr val="A93624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936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示例数据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7315200" y="1517904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A936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仅用于说明机制，不代表真实团队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713232" y="1755648"/>
            <a:ext cx="6812280" cy="4023360"/>
          </a:xfrm>
          <a:prstGeom prst="rect">
            <a:avLst/>
          </a:prstGeom>
          <a:solidFill>
            <a:srgbClr val="FBF8F1"/>
          </a:solidFill>
          <a:ln w="8890">
            <a:solidFill>
              <a:srgbClr val="D7CDB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05840" y="1993392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662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返工人时（构造示例）</a:t>
            </a:r>
            <a:endParaRPr lang="en-US" sz="1200" dirty="0"/>
          </a:p>
        </p:txBody>
      </p:sp>
      <p:graphicFrame>
        <p:nvGraphicFramePr>
          <p:cNvPr id="10" name="Chart 0" descr=""/>
          <p:cNvGraphicFramePr/>
          <p:nvPr/>
        </p:nvGraphicFramePr>
        <p:xfrm>
          <a:off x="932688" y="2267712"/>
          <a:ext cx="6144768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1" name="Text 8"/>
          <p:cNvSpPr txBox="1"/>
          <p:nvPr/>
        </p:nvSpPr>
        <p:spPr>
          <a:xfrm>
            <a:off x="7991856" y="1956816"/>
            <a:ext cx="32004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93C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差异来自返工范围，</a:t>
            </a:r>
            <a:endParaRPr lang="en-US" sz="2100" dirty="0"/>
          </a:p>
          <a:p>
            <a:pPr algn="l" indent="0" marL="0">
              <a:buNone/>
            </a:pPr>
            <a:r>
              <a:rPr lang="en-US" sz="2100" b="1" dirty="0">
                <a:solidFill>
                  <a:srgbClr val="193C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不是制作速度承诺</a:t>
            </a:r>
            <a:endParaRPr lang="en-US" sz="2100" dirty="0"/>
          </a:p>
        </p:txBody>
      </p:sp>
      <p:sp>
        <p:nvSpPr>
          <p:cNvPr id="12" name="Text 9"/>
          <p:cNvSpPr txBox="1"/>
          <p:nvPr/>
        </p:nvSpPr>
        <p:spPr>
          <a:xfrm>
            <a:off x="8010144" y="3108960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A936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8449056" y="3218688"/>
            <a:ext cx="365760" cy="0"/>
          </a:xfrm>
          <a:prstGeom prst="line">
            <a:avLst/>
          </a:prstGeom>
          <a:noFill/>
          <a:ln w="10160">
            <a:solidFill>
              <a:srgbClr val="D7CDBE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924544" y="3017520"/>
            <a:ext cx="25237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1E29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切片流程：3 页修正 + 复验</a:t>
            </a:r>
            <a:endParaRPr lang="en-US" sz="1250" dirty="0"/>
          </a:p>
        </p:txBody>
      </p:sp>
      <p:sp>
        <p:nvSpPr>
          <p:cNvPr id="15" name="Text 12"/>
          <p:cNvSpPr txBox="1"/>
          <p:nvPr/>
        </p:nvSpPr>
        <p:spPr>
          <a:xfrm>
            <a:off x="8010144" y="3785616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A936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8449056" y="3895344"/>
            <a:ext cx="365760" cy="0"/>
          </a:xfrm>
          <a:prstGeom prst="line">
            <a:avLst/>
          </a:prstGeom>
          <a:noFill/>
          <a:ln w="10160">
            <a:solidFill>
              <a:srgbClr val="D7CDBE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924544" y="3694176"/>
            <a:ext cx="25237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1E29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直接全量：6 页返工 + 统一重排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7955280" y="4736592"/>
            <a:ext cx="3493008" cy="1005840"/>
          </a:xfrm>
          <a:prstGeom prst="rect">
            <a:avLst/>
          </a:prstGeom>
          <a:solidFill>
            <a:srgbClr val="F8E9E4"/>
          </a:solidFill>
          <a:ln w="10160">
            <a:solidFill>
              <a:srgbClr val="E8B6A9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211312" y="4983480"/>
            <a:ext cx="298094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A936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所有数值均为构造示例；</a:t>
            </a:r>
            <a:endParaRPr lang="en-US" sz="1150" dirty="0"/>
          </a:p>
          <a:p>
            <a:pPr algn="l" indent="0" marL="0">
              <a:buNone/>
            </a:pPr>
            <a:r>
              <a:rPr lang="en-US" sz="1150" b="1" dirty="0">
                <a:solidFill>
                  <a:srgbClr val="A936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正式门禁不以该比例承诺收益。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566928" y="6419088"/>
            <a:ext cx="11055096" cy="0"/>
          </a:xfrm>
          <a:prstGeom prst="line">
            <a:avLst/>
          </a:prstGeom>
          <a:noFill/>
          <a:ln w="8890">
            <a:solidFill>
              <a:srgbClr val="D7CDBE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566928" y="6473952"/>
            <a:ext cx="9966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662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来源：SRC-004（示例数据）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EF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84632"/>
            <a:ext cx="73152" cy="329184"/>
          </a:xfrm>
          <a:prstGeom prst="rect">
            <a:avLst/>
          </a:prstGeom>
          <a:solidFill>
            <a:srgbClr val="193C34"/>
          </a:solidFill>
          <a:ln w="12700">
            <a:solidFill>
              <a:srgbClr val="193C3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31520" y="457200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93C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05/06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1298448" y="457200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spc="120" kern="0" dirty="0">
                <a:solidFill>
                  <a:srgbClr val="A936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DEFINITION OF DONE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877824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93C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把审美争论改写成可验收的 Definition of Done</a:t>
            </a:r>
            <a:endParaRPr lang="en-US" sz="2900" dirty="0"/>
          </a:p>
        </p:txBody>
      </p:sp>
      <p:sp>
        <p:nvSpPr>
          <p:cNvPr id="6" name="Text 4"/>
          <p:cNvSpPr txBox="1"/>
          <p:nvPr/>
        </p:nvSpPr>
        <p:spPr>
          <a:xfrm>
            <a:off x="713232" y="175564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93C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必须提交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5669280" y="175564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93C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必须检查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749808" y="2395728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A936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1225296" y="2523744"/>
            <a:ext cx="566928" cy="0"/>
          </a:xfrm>
          <a:prstGeom prst="line">
            <a:avLst/>
          </a:prstGeom>
          <a:noFill/>
          <a:ln w="10160">
            <a:solidFill>
              <a:srgbClr val="D7CDB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920240" y="2322576"/>
            <a:ext cx="2880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E29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页可编辑 PPTX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749808" y="3200400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A936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1225296" y="3328416"/>
            <a:ext cx="566928" cy="0"/>
          </a:xfrm>
          <a:prstGeom prst="line">
            <a:avLst/>
          </a:prstGeom>
          <a:noFill/>
          <a:ln w="10160">
            <a:solidFill>
              <a:srgbClr val="D7CDB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920240" y="3127248"/>
            <a:ext cx="2880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E29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 Office 渲染图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749808" y="4005072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A936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1225296" y="4133088"/>
            <a:ext cx="566928" cy="0"/>
          </a:xfrm>
          <a:prstGeom prst="line">
            <a:avLst/>
          </a:prstGeom>
          <a:noFill/>
          <a:ln w="10160">
            <a:solidFill>
              <a:srgbClr val="D7CDB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920240" y="3931920"/>
            <a:ext cx="2880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E29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结构化批准记录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5705856" y="2395728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A936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6254496" y="2322576"/>
            <a:ext cx="4407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E29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一页一结论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254496" y="2761488"/>
            <a:ext cx="4535424" cy="0"/>
          </a:xfrm>
          <a:prstGeom prst="line">
            <a:avLst/>
          </a:prstGeom>
          <a:noFill/>
          <a:ln w="7620">
            <a:solidFill>
              <a:srgbClr val="D7CDB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705856" y="3017520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A936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6254496" y="2944368"/>
            <a:ext cx="4407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E29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字体与母题一致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254496" y="3383280"/>
            <a:ext cx="4535424" cy="0"/>
          </a:xfrm>
          <a:prstGeom prst="line">
            <a:avLst/>
          </a:prstGeom>
          <a:noFill/>
          <a:ln w="7620">
            <a:solidFill>
              <a:srgbClr val="D7CDBE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705856" y="3639312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A936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6254496" y="3566160"/>
            <a:ext cx="4407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E29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图表口径与标注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254496" y="4005072"/>
            <a:ext cx="4535424" cy="0"/>
          </a:xfrm>
          <a:prstGeom prst="line">
            <a:avLst/>
          </a:prstGeom>
          <a:noFill/>
          <a:ln w="7620">
            <a:solidFill>
              <a:srgbClr val="D7CDBE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705856" y="4261104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A936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6254496" y="4187952"/>
            <a:ext cx="4407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E29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无溢出 / 遮挡 / 占位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254496" y="4626864"/>
            <a:ext cx="4535424" cy="0"/>
          </a:xfrm>
          <a:prstGeom prst="line">
            <a:avLst/>
          </a:prstGeom>
          <a:noFill/>
          <a:ln w="7620">
            <a:solidFill>
              <a:srgbClr val="D7CDB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13232" y="5047488"/>
            <a:ext cx="10753344" cy="749808"/>
          </a:xfrm>
          <a:prstGeom prst="rect">
            <a:avLst/>
          </a:prstGeom>
          <a:solidFill>
            <a:srgbClr val="193C34"/>
          </a:solidFill>
          <a:ln w="12700">
            <a:solidFill>
              <a:srgbClr val="193C34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987552" y="527608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5B5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BLOCK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2139696" y="5212080"/>
            <a:ext cx="5943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任一代表页方向未通过，不得进入全量构建</a:t>
            </a:r>
            <a:endParaRPr lang="en-US" sz="1700" dirty="0"/>
          </a:p>
        </p:txBody>
      </p:sp>
      <p:sp>
        <p:nvSpPr>
          <p:cNvPr id="32" name="Text 30"/>
          <p:cNvSpPr txBox="1"/>
          <p:nvPr/>
        </p:nvSpPr>
        <p:spPr>
          <a:xfrm>
            <a:off x="8266176" y="5184648"/>
            <a:ext cx="2852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50" dirty="0">
                <a:solidFill>
                  <a:srgbClr val="D9E2D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判断方向是否可复制，</a:t>
            </a:r>
            <a:endParaRPr lang="en-US" sz="1050" dirty="0"/>
          </a:p>
          <a:p>
            <a:pPr algn="r" indent="0" marL="0">
              <a:buNone/>
            </a:pPr>
            <a:r>
              <a:rPr lang="en-US" sz="1050" dirty="0">
                <a:solidFill>
                  <a:srgbClr val="D9E2D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不是把三页磨到最终像素。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566928" y="6419088"/>
            <a:ext cx="11055096" cy="0"/>
          </a:xfrm>
          <a:prstGeom prst="line">
            <a:avLst/>
          </a:prstGeom>
          <a:noFill/>
          <a:ln w="8890">
            <a:solidFill>
              <a:srgbClr val="D7CDBE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566928" y="6473952"/>
            <a:ext cx="9966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662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来源：SRC-002 · SRC-003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93C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84632"/>
            <a:ext cx="73152" cy="329184"/>
          </a:xfrm>
          <a:prstGeom prst="rect">
            <a:avLst/>
          </a:prstGeom>
          <a:solidFill>
            <a:srgbClr val="A93624"/>
          </a:solidFill>
          <a:ln w="12700">
            <a:solidFill>
              <a:srgbClr val="A9362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31520" y="457200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06/06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1298448" y="457200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spc="120" kern="0" dirty="0">
                <a:solidFill>
                  <a:srgbClr val="F5B5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DECISION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877824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今天批准一条规则：切片未 PASS，不做全量</a:t>
            </a:r>
            <a:endParaRPr lang="en-US" sz="29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1755648"/>
            <a:ext cx="6693408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批准将“三页纵向切片 PASS”设为</a:t>
            </a:r>
            <a:endParaRPr lang="en-US" sz="2800" dirty="0"/>
          </a:p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正式汇报全量构建的放行条件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 rot="-120000">
            <a:off x="9564624" y="1572768"/>
            <a:ext cx="1810512" cy="603504"/>
          </a:xfrm>
          <a:prstGeom prst="rect">
            <a:avLst/>
          </a:prstGeom>
          <a:noFill/>
          <a:ln w="21590">
            <a:solidFill>
              <a:srgbClr val="F5B5A5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B5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请求批准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768096" y="3547872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5B5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1353312" y="3493008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范围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2578608" y="3493008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DCE6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封面 + 最复杂机制页 + 数据/总结页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1298448" y="3895344"/>
            <a:ext cx="6035040" cy="0"/>
          </a:xfrm>
          <a:prstGeom prst="line">
            <a:avLst/>
          </a:prstGeom>
          <a:noFill/>
          <a:ln w="8890">
            <a:solidFill>
              <a:srgbClr val="55726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68096" y="4151376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5B5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1353312" y="4096512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2578608" y="4096512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DCE6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可编辑源稿 + 真实渲染 + QA 记录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1298448" y="4498848"/>
            <a:ext cx="6035040" cy="0"/>
          </a:xfrm>
          <a:prstGeom prst="line">
            <a:avLst/>
          </a:prstGeom>
          <a:noFill/>
          <a:ln w="8890">
            <a:solidFill>
              <a:srgbClr val="55726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68096" y="4754880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5B5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1353312" y="4700016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试运行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2578608" y="4700016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DCE6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下一次正式技术汇报先执行一轮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1298448" y="5102352"/>
            <a:ext cx="6035040" cy="0"/>
          </a:xfrm>
          <a:prstGeom prst="line">
            <a:avLst/>
          </a:prstGeom>
          <a:noFill/>
          <a:ln w="8890">
            <a:solidFill>
              <a:srgbClr val="55726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193024" y="3218688"/>
            <a:ext cx="3163824" cy="2048256"/>
          </a:xfrm>
          <a:prstGeom prst="rect">
            <a:avLst/>
          </a:prstGeom>
          <a:solidFill>
            <a:srgbClr val="F4EFE5"/>
          </a:solidFill>
          <a:ln w="12700">
            <a:solidFill>
              <a:srgbClr val="F4EFE5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485632" y="3529584"/>
            <a:ext cx="1353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A936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放行规则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8467344" y="3986784"/>
            <a:ext cx="25054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93C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SLICE PASS</a:t>
            </a:r>
            <a:endParaRPr lang="en-US" sz="2300" dirty="0"/>
          </a:p>
        </p:txBody>
      </p:sp>
      <p:sp>
        <p:nvSpPr>
          <p:cNvPr id="23" name="Shape 21"/>
          <p:cNvSpPr/>
          <p:nvPr/>
        </p:nvSpPr>
        <p:spPr>
          <a:xfrm>
            <a:off x="8503920" y="4681728"/>
            <a:ext cx="932688" cy="0"/>
          </a:xfrm>
          <a:prstGeom prst="line">
            <a:avLst/>
          </a:prstGeom>
          <a:noFill/>
          <a:ln w="17780">
            <a:solidFill>
              <a:srgbClr val="A93624"/>
            </a:solidFill>
            <a:prstDash val="solid"/>
            <a:tailEnd type="triangle"/>
          </a:ln>
        </p:spPr>
      </p:sp>
      <p:sp>
        <p:nvSpPr>
          <p:cNvPr id="24" name="Text 22"/>
          <p:cNvSpPr txBox="1"/>
          <p:nvPr/>
        </p:nvSpPr>
        <p:spPr>
          <a:xfrm>
            <a:off x="9601200" y="4553712"/>
            <a:ext cx="1389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A936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FULL BUILD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749808" y="5870448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BFD1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下一次正式技术汇报 / 先试运行一轮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66928" y="6419088"/>
            <a:ext cx="11055096" cy="0"/>
          </a:xfrm>
          <a:prstGeom prst="line">
            <a:avLst/>
          </a:prstGeom>
          <a:noFill/>
          <a:ln w="8890">
            <a:solidFill>
              <a:srgbClr val="557268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66928" y="6473952"/>
            <a:ext cx="9966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C9D4C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来源：SRC-001 · SRC-002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为什么正式汇报要先做三页纵向切片</dc:title>
  <dc:subject>发布门禁提案</dc:subject>
  <dc:creator>Codex</dc:creator>
  <cp:lastModifiedBy>Codex</cp:lastModifiedBy>
  <cp:revision>1</cp:revision>
  <dcterms:created xsi:type="dcterms:W3CDTF">2026-07-11T12:01:15Z</dcterms:created>
  <dcterms:modified xsi:type="dcterms:W3CDTF">2026-07-11T12:01:15Z</dcterms:modified>
</cp:coreProperties>
</file>